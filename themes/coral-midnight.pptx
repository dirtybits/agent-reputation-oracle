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embedTrueTypeFonts="1" strictFirstAndLastChars="0" saveSubsetFonts="1">
  <p:sldMasterIdLst>
    <p:sldMasterId id="2147483660" r:id="rId5"/>
    <p:sldMasterId id="2147483661" r:id="rId6"/>
  </p:sldMasterIdLst>
  <p:notesMasterIdLst>
    <p:notesMasterId r:id="rId7"/>
  </p:notesMasterIdLst>
  <p:sldIdLst>
    <p:sldId id="256" r:id="rId_slide1"/>
  </p:sldIdLst>
  <p:sldSz cy="5143500" cx="9144000"/>
  <p:notesSz cx="6858000" cy="9144000"/>
  <p:embeddedFontLst>
    <p:embeddedFont>
      <p:font typeface="Inconsolata"/>
      <p:regular r:id="rId25"/>
      <p:bold r:id="rId26"/>
    </p:embeddedFont>
    <p:embeddedFont>
      <p:font typeface="Inconsolata Medium"/>
      <p:regular r:id="rId27"/>
      <p:bold r:id="rId28"/>
    </p:embeddedFont>
    <p:embeddedFont>
      <p:font typeface="Arial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ns3:sldGuideLst>
        <ns3:guide id="1" orient="horz" pos="1620">
          <ns3:clr>
            <a:srgbClr val="747775"/>
          </ns3:clr>
        </ns3:guide>
        <ns3:guide id="2" pos="2880">
          <ns3:clr>
            <a:srgbClr val="747775"/>
          </ns3:clr>
        </ns3:guide>
      </ns3: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Andy Sustic"/>
  <p:cmAuthor clrIdx="1" id="1" initials="" lastIdx="7"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 /><Relationship Id="rId2" Type="http://schemas.openxmlformats.org/officeDocument/2006/relationships/viewProps" Target="viewProps.xml" /><Relationship Id="rId3" Type="http://schemas.openxmlformats.org/officeDocument/2006/relationships/presProps" Target="presProps.xml" /><Relationship Id="rId4" Type="http://schemas.openxmlformats.org/officeDocument/2006/relationships/commentAuthors" Target="commentAuthors.xml" /><Relationship Id="rId26" Type="http://schemas.openxmlformats.org/officeDocument/2006/relationships/font" Target="fonts/Inconsolata-bold.fntdata" /><Relationship Id="rId25" Type="http://schemas.openxmlformats.org/officeDocument/2006/relationships/font" Target="fonts/Inconsolata-regular.fntdata" /><Relationship Id="rId28" Type="http://schemas.openxmlformats.org/officeDocument/2006/relationships/font" Target="fonts/InconsolataMedium-bold.fntdata" /><Relationship Id="rId27" Type="http://schemas.openxmlformats.org/officeDocument/2006/relationships/font" Target="fonts/InconsolataMedium-regular.fntdata" /><Relationship Id="rId5" Type="http://schemas.openxmlformats.org/officeDocument/2006/relationships/slideMaster" Target="slideMasters/slideMaster1.xml" /><Relationship Id="rId6" Type="http://schemas.openxmlformats.org/officeDocument/2006/relationships/slideMaster" Target="slideMasters/slideMaster2.xml" /><Relationship Id="rId29" Type="http://schemas.openxmlformats.org/officeDocument/2006/relationships/font" Target="fonts/ArialBlack-regular.fntdata" /><Relationship Id="rId7" Type="http://schemas.openxmlformats.org/officeDocument/2006/relationships/notesMaster" Target="notesMasters/notesMaster1.xml" /><Relationship Id="rId_slide1" Type="http://schemas.openxmlformats.org/officeDocument/2006/relationships/slide" Target="slides/slide1.xml" /></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5T21:48:46.794">
    <p:pos x="6000" y="0"/>
    <p:text>Why it makes sense to pay for a skill?
Pay a couple cents or dollars to buy one or spend $10 in tokens to build your own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5T21:37:56.932">
    <p:pos x="6000" y="0"/>
    <p:text>Add 2 or 3 slides on Skills, what are they, how do they work, why are they important.
OpenClaw popularity is in large part from skills -&gt; being able to expand agent's capabilities
Show screen shot of clawhub or solana-dev skills that you use</p:text>
  </p:cm>
  <p:cm authorId="0" idx="3" dt="2026-04-15T21:39:42.541">
    <p:pos x="6000" y="100"/>
    <p:text>Talk about claude, gpt, cursor plugin page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15T21:17:07.74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2" dt="2026-04-15T21:17:07.744">
    <p:pos x="6000" y="100"/>
    <p:text>Share agent trace so Admins can review it and determine slash
Useful in improving skills as well.  Hey this skill didn't work well, share feedback with author.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4-15T21:17:07.744">
    <p:pos x="6000" y="0"/>
    <p:text>Go over how Skills are downloaded.  Here's how easy it is to connect to our skill marketplace and download skills.
-Andy Sustic</p:text>
  </p:cm>
  <p:cm authorId="0" idx="4" dt="2026-04-15T21:33:45.980">
    <p:pos x="6000" y="100"/>
    <p:text>Add Update note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4-15T21:17:07.745">
    <p:pos x="6000" y="0"/>
    <p:text>Go into more detail about Bug Hunters and slash-sharing
-Andy Sustic</p:text>
  </p:cm>
  <p:cm authorId="0" idx="5" dt="2026-04-15T21:51:59.163">
    <p:pos x="6000" y="100"/>
    <p:text>Maybe Flywheel needs it's own slide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4-15T21:17:07.745">
    <p:pos x="6000" y="0"/>
    <p:text>How does payment actually work? 
Do I have to fund my agent first?
Can I just connect my bank account?
-Andy Sustic</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6-04-15T21:17:07.74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7" dt="2026-04-15T21:17:07.748">
    <p:pos x="6000" y="100"/>
    <p:text>Share agent trace so Admins can review it and determine slash
Useful in improving skills as well.  Hey this skill didn't work well, share feedback with author.</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15T21:33:10.032">
    <p:pos x="6000" y="0"/>
    <p:text>IPFS hosting</p:text>
  </p:cm>
  <p:cm authorId="0" idx="7" dt="2026-04-15T21:50:48.809">
    <p:pos x="6000" y="100"/>
    <p:text>Add sandboxing</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15T21:35:02.099">
    <p:pos x="6000" y="0"/>
    <p:text>Have agent download and install skill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030712"/>
        </a:solidFill>
        <a:effectLst/>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dk1" bg2="dk2" tx1="lt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p:cSld name="simple-light-2">
    <p:bg>
      <p:bgPr>
        <a:solidFill>
          <a:srgbClr val="030712"/>
        </a:solidFill>
        <a:effectLst/>
      </p:bgPr>
    </p:bg>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dk1" bg2="dk2" tx1="lt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s"/>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Coral Midnight">
      <a:dk1>
        <a:srgbClr val="030712"/>
      </a:dk1>
      <a:lt1>
        <a:srgbClr val="F3F4F6"/>
      </a:lt1>
      <a:dk2>
        <a:srgbClr val="1F2937"/>
      </a:dk2>
      <a:lt2>
        <a:srgbClr val="D1D5DB"/>
      </a:lt2>
      <a:accent1>
        <a:srgbClr val="F28A61"/>
      </a:accent1>
      <a:accent2>
        <a:srgbClr val="FD522F"/>
      </a:accent2>
      <a:accent3>
        <a:srgbClr val="F59E0B"/>
      </a:accent3>
      <a:accent4>
        <a:srgbClr val="6B7280"/>
      </a:accent4>
      <a:accent5>
        <a:srgbClr val="374151"/>
      </a:accent5>
      <a:accent6>
        <a:srgbClr val="FFF5EE"/>
      </a:accent6>
      <a:hlink>
        <a:srgbClr val="F28A61"/>
      </a:hlink>
      <a:folHlink>
        <a:srgbClr val="FD522F"/>
      </a:folHlink>
    </a:clrScheme>
    <a:fontScheme name="Coral Midnight">
      <a:majorFont>
        <a:latin typeface="Arial Black"/>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Coral Midnight">
      <a:dk1>
        <a:srgbClr val="030712"/>
      </a:dk1>
      <a:lt1>
        <a:srgbClr val="F3F4F6"/>
      </a:lt1>
      <a:dk2>
        <a:srgbClr val="1F2937"/>
      </a:dk2>
      <a:lt2>
        <a:srgbClr val="D1D5DB"/>
      </a:lt2>
      <a:accent1>
        <a:srgbClr val="F28A61"/>
      </a:accent1>
      <a:accent2>
        <a:srgbClr val="FD522F"/>
      </a:accent2>
      <a:accent3>
        <a:srgbClr val="F59E0B"/>
      </a:accent3>
      <a:accent4>
        <a:srgbClr val="6B7280"/>
      </a:accent4>
      <a:accent5>
        <a:srgbClr val="374151"/>
      </a:accent5>
      <a:accent6>
        <a:srgbClr val="FFF5EE"/>
      </a:accent6>
      <a:hlink>
        <a:srgbClr val="F28A61"/>
      </a:hlink>
      <a:folHlink>
        <a:srgbClr val="FD522F"/>
      </a:folHlink>
    </a:clrScheme>
    <a:fontScheme name="Coral Midnight">
      <a:majorFont>
        <a:latin typeface="Arial Black"/>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