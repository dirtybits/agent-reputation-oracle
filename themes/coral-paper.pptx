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autoCompressPictures="0" embedTrueTypeFonts="1" strictFirstAndLastChars="0" saveSubsetFonts="1">
  <p:sldMasterIdLst>
    <p:sldMasterId id="2147483660" r:id="rId5"/>
    <p:sldMasterId id="2147483661" r:id="rId6"/>
  </p:sldMasterIdLst>
  <p:notesMasterIdLst>
    <p:notesMasterId r:id="rId7"/>
  </p:notesMasterIdLst>
  <p:sldIdLst>
    <p:sldId id="256" r:id="rId_slide1"/>
  </p:sldIdLst>
  <p:sldSz cy="5143500" cx="9144000"/>
  <p:notesSz cx="6858000" cy="9144000"/>
  <p:embeddedFontLst>
    <p:embeddedFont>
      <p:font typeface="Inconsolata"/>
      <p:regular r:id="rId25"/>
      <p:bold r:id="rId26"/>
    </p:embeddedFont>
    <p:embeddedFont>
      <p:font typeface="Inconsolata Medium"/>
      <p:regular r:id="rId27"/>
      <p:bold r:id="rId28"/>
    </p:embeddedFont>
    <p:embeddedFont>
      <p:font typeface="Arial Black"/>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ns3:sldGuideLst>
        <ns3:guide id="1" orient="horz" pos="1620">
          <ns3:clr>
            <a:srgbClr val="747775"/>
          </ns3:clr>
        </ns3:guide>
        <ns3:guide id="2" pos="2880">
          <ns3:clr>
            <a:srgbClr val="747775"/>
          </ns3:clr>
        </ns3:guide>
      </ns3: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Andy Sustic"/>
  <p:cmAuthor clrIdx="1" id="1" initials="" lastIdx="7" name=""/>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 /><Relationship Id="rId2" Type="http://schemas.openxmlformats.org/officeDocument/2006/relationships/viewProps" Target="viewProps.xml" /><Relationship Id="rId3" Type="http://schemas.openxmlformats.org/officeDocument/2006/relationships/presProps" Target="presProps.xml" /><Relationship Id="rId4" Type="http://schemas.openxmlformats.org/officeDocument/2006/relationships/commentAuthors" Target="commentAuthors.xml" /><Relationship Id="rId26" Type="http://schemas.openxmlformats.org/officeDocument/2006/relationships/font" Target="fonts/Inconsolata-bold.fntdata" /><Relationship Id="rId25" Type="http://schemas.openxmlformats.org/officeDocument/2006/relationships/font" Target="fonts/Inconsolata-regular.fntdata" /><Relationship Id="rId28" Type="http://schemas.openxmlformats.org/officeDocument/2006/relationships/font" Target="fonts/InconsolataMedium-bold.fntdata" /><Relationship Id="rId27" Type="http://schemas.openxmlformats.org/officeDocument/2006/relationships/font" Target="fonts/InconsolataMedium-regular.fntdata" /><Relationship Id="rId5" Type="http://schemas.openxmlformats.org/officeDocument/2006/relationships/slideMaster" Target="slideMasters/slideMaster1.xml" /><Relationship Id="rId6" Type="http://schemas.openxmlformats.org/officeDocument/2006/relationships/slideMaster" Target="slideMasters/slideMaster2.xml" /><Relationship Id="rId29" Type="http://schemas.openxmlformats.org/officeDocument/2006/relationships/font" Target="fonts/ArialBlack-regular.fntdata" /><Relationship Id="rId7" Type="http://schemas.openxmlformats.org/officeDocument/2006/relationships/notesMaster" Target="notesMasters/notesMaster1.xml" /><Relationship Id="rId_slide1" Type="http://schemas.openxmlformats.org/officeDocument/2006/relationships/slide" Target="slides/slide1.xml" /></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4-15T21:48:46.794">
    <p:pos x="6000" y="0"/>
    <p:text>Why it makes sense to pay for a skill?
Pay a couple cents or dollars to buy one or spend $10 in tokens to build your own</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4-15T21:37:56.932">
    <p:pos x="6000" y="0"/>
    <p:text>Add 2 or 3 slides on Skills, what are they, how do they work, why are they important.
OpenClaw popularity is in large part from skills -&gt; being able to expand agent's capabilities
Show screen shot of clawhub or solana-dev skills that you use</p:text>
  </p:cm>
  <p:cm authorId="0" idx="3" dt="2026-04-15T21:39:42.541">
    <p:pos x="6000" y="100"/>
    <p:text>Talk about claude, gpt, cursor plugin page</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1" dt="2026-04-15T21:17:07.742">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1" idx="2" dt="2026-04-15T21:17:07.744">
    <p:pos x="6000" y="100"/>
    <p:text>Share agent trace so Admins can review it and determine slash
Useful in improving skills as well.  Hey this skill didn't work well, share feedback with author.</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3" dt="2026-04-15T21:17:07.744">
    <p:pos x="6000" y="0"/>
    <p:text>Go over how Skills are downloaded.  Here's how easy it is to connect to our skill marketplace and download skills.
-Andy Sustic</p:text>
  </p:cm>
  <p:cm authorId="0" idx="4" dt="2026-04-15T21:33:45.980">
    <p:pos x="6000" y="100"/>
    <p:text>Add Update note</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4" dt="2026-04-15T21:17:07.745">
    <p:pos x="6000" y="0"/>
    <p:text>Go into more detail about Bug Hunters and slash-sharing
-Andy Sustic</p:text>
  </p:cm>
  <p:cm authorId="0" idx="5" dt="2026-04-15T21:51:59.163">
    <p:pos x="6000" y="100"/>
    <p:text>Maybe Flywheel needs it's own slide</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5" dt="2026-04-15T21:17:07.745">
    <p:pos x="6000" y="0"/>
    <p:text>How does payment actually work? 
Do I have to fund my agent first?
Can I just connect my bank account?
-Andy Sustic</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1" idx="6" dt="2026-04-15T21:17:07.747">
    <p:pos x="6000" y="0"/>
    <p:text>Why is staking the solution?
You could use docker containers, etc...
In the past, we've gotten used to checking reputation by looking at Github starts and git history, etc.. but those signals are useless now that agents can fake all that.  THe only real way cut through the noise is to have money at stake: economic skin in the game.
-Andy Sustic</p:text>
  </p:cm>
  <p:cm authorId="1" idx="7" dt="2026-04-15T21:17:07.748">
    <p:pos x="6000" y="100"/>
    <p:text>Share agent trace so Admins can review it and determine slash
Useful in improving skills as well.  Hey this skill didn't work well, share feedback with author.</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4-15T21:33:10.032">
    <p:pos x="6000" y="0"/>
    <p:text>IPFS hosting</p:text>
  </p:cm>
  <p:cm authorId="0" idx="7" dt="2026-04-15T21:50:48.809">
    <p:pos x="6000" y="100"/>
    <p:text>Add sandboxing</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4-15T21:35:02.099">
    <p:pos x="6000" y="0"/>
    <p:text>Have agent download and install skill</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 name="Shape 7"/>
        <p:cNvGrpSpPr/>
        <p:nvPr/>
      </p:nvGrpSpPr>
      <p:grpSpPr>
        <a:xfrm>
          <a:off x="0" y="0"/>
          <a:ext cx="0" cy="0"/>
          <a:chOff x="0" y="0"/>
          <a:chExt cx="0" cy="0"/>
        </a:xfrm>
      </p:grpSpPr>
      <p:sp>
        <p:nvSpPr>
          <p:cNvPr id="8" name="Google Shape;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5"/>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3" name="Google Shape;23;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6" name="Google Shape;26;p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7" name="Google Shape;27;p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8" name="Google Shape;28;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1" name="Google Shape;31;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4" name="Google Shape;34;p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5" name="Google Shape;3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 name="Shape 36"/>
        <p:cNvGrpSpPr/>
        <p:nvPr/>
      </p:nvGrpSpPr>
      <p:grpSpPr>
        <a:xfrm>
          <a:off x="0" y="0"/>
          <a:ext cx="0" cy="0"/>
          <a:chOff x="0" y="0"/>
          <a:chExt cx="0" cy="0"/>
        </a:xfrm>
      </p:grpSpPr>
      <p:sp>
        <p:nvSpPr>
          <p:cNvPr id="37" name="Google Shape;37;p1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8" name="Google Shape;38;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1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1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2" name="Google Shape;42;p1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3" name="Google Shape;43;p1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4" name="Google Shape;44;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5" name="Shape 45"/>
        <p:cNvGrpSpPr/>
        <p:nvPr/>
      </p:nvGrpSpPr>
      <p:grpSpPr>
        <a:xfrm>
          <a:off x="0" y="0"/>
          <a:ext cx="0" cy="0"/>
          <a:chOff x="0" y="0"/>
          <a:chExt cx="0" cy="0"/>
        </a:xfrm>
      </p:grpSpPr>
      <p:sp>
        <p:nvSpPr>
          <p:cNvPr id="46" name="Google Shape;46;p1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7" name="Google Shape;47;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8" name="Shape 48"/>
        <p:cNvGrpSpPr/>
        <p:nvPr/>
      </p:nvGrpSpPr>
      <p:grpSpPr>
        <a:xfrm>
          <a:off x="0" y="0"/>
          <a:ext cx="0" cy="0"/>
          <a:chOff x="0" y="0"/>
          <a:chExt cx="0" cy="0"/>
        </a:xfrm>
      </p:grpSpPr>
      <p:sp>
        <p:nvSpPr>
          <p:cNvPr id="49" name="Google Shape;49;p1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1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1" name="Google Shape;5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11" Type="http://schemas.openxmlformats.org/officeDocument/2006/relationships/slideLayout" Target="../slideLayouts/slideLayout12.xml"/><Relationship Id="rId10" Type="http://schemas.openxmlformats.org/officeDocument/2006/relationships/slideLayout" Target="../slideLayouts/slideLayout11.xml"/><Relationship Id="rId12" Type="http://schemas.openxmlformats.org/officeDocument/2006/relationships/theme" Target="../theme/theme1.xml"/><Relationship Id="rId9" Type="http://schemas.openxmlformats.org/officeDocument/2006/relationships/slideLayout" Target="../slideLayouts/slideLayout10.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Pr>
        <a:solidFill>
          <a:srgbClr val="FAFAFA"/>
        </a:solidFill>
        <a:effectLst/>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p="http://schemas.openxmlformats.org/presentationml/2006/main" xmlns:r="http://schemas.openxmlformats.org/officeDocument/2006/relationships">
  <p:cSld name="simple-light-2">
    <p:bg>
      <p:bgPr>
        <a:solidFill>
          <a:srgbClr val="FAFAFA"/>
        </a:solidFill>
        <a:effectLst/>
      </p:bgPr>
    </p:bg>
    <p:spTree>
      <p:nvGrpSpPr>
        <p:cNvPr id="9" name="Shape 9"/>
        <p:cNvGrpSpPr/>
        <p:nvPr/>
      </p:nvGrpSpPr>
      <p:grpSpPr>
        <a:xfrm>
          <a:off x="0" y="0"/>
          <a:ext cx="0" cy="0"/>
          <a:chOff x="0" y="0"/>
          <a:chExt cx="0" cy="0"/>
        </a:xfrm>
      </p:grpSpPr>
      <p:sp>
        <p:nvSpPr>
          <p:cNvPr id="10" name="Google Shape;10;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 name="Google Shape;1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s"/>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Simple Light">
  <a:themeElements>
    <a:clrScheme name="Coral Paper">
      <a:dk1>
        <a:srgbClr val="1F2937"/>
      </a:dk1>
      <a:lt1>
        <a:srgbClr val="FAFAFA"/>
      </a:lt1>
      <a:dk2>
        <a:srgbClr val="6B7280"/>
      </a:dk2>
      <a:lt2>
        <a:srgbClr val="D1D5DB"/>
      </a:lt2>
      <a:accent1>
        <a:srgbClr val="F28A61"/>
      </a:accent1>
      <a:accent2>
        <a:srgbClr val="FD522F"/>
      </a:accent2>
      <a:accent3>
        <a:srgbClr val="F59E0B"/>
      </a:accent3>
      <a:accent4>
        <a:srgbClr val="6B7280"/>
      </a:accent4>
      <a:accent5>
        <a:srgbClr val="FFF5EE"/>
      </a:accent5>
      <a:accent6>
        <a:srgbClr val="374151"/>
      </a:accent6>
      <a:hlink>
        <a:srgbClr val="F28A61"/>
      </a:hlink>
      <a:folHlink>
        <a:srgbClr val="FD522F"/>
      </a:folHlink>
    </a:clrScheme>
    <a:fontScheme name="Coral Paper">
      <a:majorFont>
        <a:latin typeface="Arial Black"/>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Coral Paper">
      <a:dk1>
        <a:srgbClr val="1F2937"/>
      </a:dk1>
      <a:lt1>
        <a:srgbClr val="FAFAFA"/>
      </a:lt1>
      <a:dk2>
        <a:srgbClr val="6B7280"/>
      </a:dk2>
      <a:lt2>
        <a:srgbClr val="D1D5DB"/>
      </a:lt2>
      <a:accent1>
        <a:srgbClr val="F28A61"/>
      </a:accent1>
      <a:accent2>
        <a:srgbClr val="FD522F"/>
      </a:accent2>
      <a:accent3>
        <a:srgbClr val="F59E0B"/>
      </a:accent3>
      <a:accent4>
        <a:srgbClr val="6B7280"/>
      </a:accent4>
      <a:accent5>
        <a:srgbClr val="FFF5EE"/>
      </a:accent5>
      <a:accent6>
        <a:srgbClr val="374151"/>
      </a:accent6>
      <a:hlink>
        <a:srgbClr val="F28A61"/>
      </a:hlink>
      <a:folHlink>
        <a:srgbClr val="FD522F"/>
      </a:folHlink>
    </a:clrScheme>
    <a:fontScheme name="Coral Paper">
      <a:majorFont>
        <a:latin typeface="Arial Black"/>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