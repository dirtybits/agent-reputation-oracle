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7" r:id="rId24"/>
    <p:sldId id="268" r:id="rId25"/>
    <p:sldId id="263" r:id="rId15"/>
    <p:sldId id="264" r:id="rId16"/>
    <p:sldId id="265" r:id="rId17"/>
    <p:sldId id="266" r:id="rId18"/>
    <p:sldId id="269" r:id="rId26"/>
  </p:sldIdLst>
  <p:sldSz cy="5143500" cx="9144000"/>
  <p:notesSz cx="6858000" cy="9144000"/>
  <p:embeddedFontLst>
    <p:embeddedFont>
      <p:font typeface="Inconsolata"/>
      <p:regular r:id="rId19"/>
      <p:bold r:id="rId20"/>
    </p:embeddedFont>
    <p:embeddedFont>
      <p:font typeface="Inconsolata Medium"/>
      <p:regular r:id="rId21"/>
      <p:bold r:id="rId22"/>
    </p:embeddedFont>
    <p:embeddedFont>
      <p:font typeface="Arial Black"/>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Andy Sustic"/>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font" Target="fonts/Inconsolata-bold.fntdata"/><Relationship Id="rId11" Type="http://schemas.openxmlformats.org/officeDocument/2006/relationships/slide" Target="slides/slide4.xml"/><Relationship Id="rId22" Type="http://schemas.openxmlformats.org/officeDocument/2006/relationships/font" Target="fonts/InconsolataMedium-bold.fntdata"/><Relationship Id="rId10" Type="http://schemas.openxmlformats.org/officeDocument/2006/relationships/slide" Target="slides/slide3.xml"/><Relationship Id="rId21" Type="http://schemas.openxmlformats.org/officeDocument/2006/relationships/font" Target="fonts/InconsolataMedium-regular.fntdata"/><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font" Target="fonts/ArialBlack-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Inconsolata-regular.fnt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0T20:48:34.513">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p:text>
  </p:cm>
  <p:cm authorId="1" idx="2" dt="2026-03-20T20:59:21.691">
    <p:pos x="6000" y="100"/>
    <p:text>Share agent trace so Admins can review it and determine slash
Useful in improving skills as well.  Hey this skill didn't work well, share feedback with author.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20T20:52:26.451">
    <p:pos x="6000" y="0"/>
    <p:text>Go over how Skills are downloaded.  Here's how easy it is to connect to our skill marketplace and download skills.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3-20T20:44:31.041">
    <p:pos x="6000" y="0"/>
    <p:text>Go into more detail about Bug Hunters and slash-sharing</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20T20:56:09.521">
    <p:pos x="6000" y="0"/>
    <p:text>How does payment actually work? 
Do I have to fund my agent first?
Can I just connect my bank account?</p:text>
  </p:cm>
</p:cmLst>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13de09bf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d13de09bf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~0:20  |  Title</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AgentVouch is a trust layer for AI agent skills -- think of it as a reputation system where people put real money on the line to vouch for the tools agents use.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Skills today are basically unsigned instruction manuals that agents follow without question. We built a system where the people recommending those manuals have skin in the game -- if a skill turns out to be malicious, the vouchers lose their stake.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Let's start with why this matters.</a:t>
            </a:r>
          </a:p>
        </p:txBody>
      </p:sp>
      <p:sp>
        <p:nvSpPr>
          <p:cNvPr id="57" name="Google Shape;57;g3d13de09bf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13de09bf6_2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d13de09bf6_2_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~1:10  |  The Problem</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Think of ClawHub like npm or the App Store -- but for AI agent skills. And just like the early days of those ecosystems, it has a malware problem.</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1 in 286 skills is a credential stealer. The top-downloaded skill was discovered to be malware -- 109K comments worth of fallout, 4,500 upvotes on the disclosure post.</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The root cause is structural. Publishing a skill is free and instant. Installing one is a single command. But auditing whether it's safe? That's expensive and slow.</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Attackers have a massive asymmetric advantage. AgentVouch flips that.</a:t>
            </a:r>
          </a:p>
        </p:txBody>
      </p:sp>
      <p:sp>
        <p:nvSpPr>
          <p:cNvPr id="72" name="Google Shape;72;g3d13de09bf6_2_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13de09bf6_2_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d13de09bf6_2_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~2:20  |  Why It's Worse</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Traditional supply chain attacks involve malicious binaries -- something you can scan for. AI skills are different: the attack is written in plain English.</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Imagine a recipe book that says 'before you start cooking, send a photo of your pantry to this website.' A human would find that suspicious. An AI following instructions might not. That's instruction injection -- and a malicious SKILL.md can do exactly this.</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Now add self-replicating agents into the mix. Some agents can spawn child agents, earn money, and improve themselves -- all without a human in the loop. If a poisoned skill gets into that system, it propagates through every generation like a virus.</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This isn't just a security problem. It's an existential trust problem for the entire agent economy.</a:t>
            </a:r>
          </a:p>
        </p:txBody>
      </p:sp>
      <p:sp>
        <p:nvSpPr>
          <p:cNvPr id="109" name="Google Shape;109;g3d13de09bf6_2_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13de09bf6_2_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d13de09bf6_2_7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~3:30  |  The Solution</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Think of AgentVouch like a co-signer on a loan -- but for software trust.</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VOUCHING: When you vouch for a skill author, you lock up real SOL. You're saying 'I believe in this person enough to put my money behind them.' That's not a star rating -- that's actual skin in the game.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SLASHING: If the author turns out to be malicious and someone can prove it, your bond gets slashed. The challenger -- the person who caught the bad actor -- collects your stake as a reward. Bug bounty meets accountability.</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REVENUE SHARING: If the author is legitimate, every time someone buys their skill, 40% of the revenue flows back to their vouchers. Vouching for good work becomes genuinely profitable.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Reputation without consequence is just noise. AgentVouch adds the consequence.</a:t>
            </a:r>
          </a:p>
        </p:txBody>
      </p:sp>
      <p:sp>
        <p:nvSpPr>
          <p:cNvPr id="140" name="Google Shape;140;g3d13de09bf6_2_7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13de09bf6_2_10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13de09bf6_2_10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~4:30  |  How It Works</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To get started, you register your wallet as an on-chain identity -- your AgentProfile. Think of it like creating a verified account, except it lives on Solana and no one can take it away from you.</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When you vouch for someone, you lock SOL on-chain. That creates a permanent record linking you to the author. Your reputation score updates automatically -- it's a live calculation based on how much is staked behind you, how many vouchers you have, how long you've been around, and whether any disputes have gone against you.</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Free skills require authors to post a security deposit first -- their AuthorBond. It's like a host on Airbnb putting up a damage deposit before listing for free. Paid skills skip that step since purchase revenue provides a natural economic signal.</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You can interact through the web UI, the REST API, or directly on Solana -- whatever fits your workflow.</a:t>
            </a:r>
          </a:p>
        </p:txBody>
      </p:sp>
      <p:sp>
        <p:nvSpPr>
          <p:cNvPr id="167" name="Google Shape;167;g3d13de09bf6_2_10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13de09bf6_2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d13de09bf6_2_1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~5:30  |  Marketplace</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The marketplace creates a self-reinforcing flywheel.</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Vouchers back quality skills. Quality skills earn revenue. 40% of that revenue flows back to vouchers in proportion to how much they staked. Malicious skills get caught and slashed. The ecosystem gradually converges on trust.</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It's similar to how Yelp reviewers would behave if they had money on the line for every restaurant they recommended. Suddenly reviews get a lot more honest.</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The split is enforced by the smart contract -- 60% to the author, 40% to the voucher pool. No middleman, no off-chain trust required.</a:t>
            </a:r>
          </a:p>
        </p:txBody>
      </p:sp>
      <p:sp>
        <p:nvSpPr>
          <p:cNvPr id="204" name="Google Shape;204;g3d13de09bf6_2_1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13de09bf6_2_2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13de09bf6_2_2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~6:20  |  Payments / x402</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This is where it gets interesting for agent-native use cases.</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We use a protocol called x402 -- think of it like a vending machine for skills. An agent walks up, asks for a skill, gets told the price, pays on-chain, and the skill is delivered. No human needed to approve the transaction, no OAuth, no checkout flow.</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The whole exchange happens in seconds: agent requests the skill, server says '402 -- here's what it costs', agent pays on Solana, server verifies the on-chain receipt, delivers the skill.</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The on-chain purchase record is permanent proof of access. It's not just a payment confirmation -- it's a credential the agent can use to re-download the skill at any time.</a:t>
            </a:r>
          </a:p>
        </p:txBody>
      </p:sp>
      <p:sp>
        <p:nvSpPr>
          <p:cNvPr id="235" name="Google Shape;235;g3d13de09bf6_2_2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13de09bf6_2_2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d13de09bf6_2_2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~9:10  |  Live Demo</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We'll walk through the full lifecycle live on devnet.</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Register an agent identity, stake SOL to vouch for an author, file a dispute with evidence, and watch the stake get slashed on-chain in real time.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All four steps, all verifiable on Solana Explorer. Program address is on screen.</a:t>
            </a:r>
          </a:p>
        </p:txBody>
      </p:sp>
      <p:sp>
        <p:nvSpPr>
          <p:cNvPr id="292" name="Google Shape;292;g3d13de09bf6_2_2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13de09bf6_2_4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d13de09bf6_2_4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~9:40  |  Closing</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Every thriving software ecosystem eventually needed a trust layer. Package managers got code signing. App stores got review. The agent economy needs something like AgentVouch.</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We're live at agentvouch.xyz. The code is open source. And if you want to go deeper on any of the mechanism design, the appendix slides have the full technical breakdown.</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Thank you.</a:t>
            </a:r>
          </a:p>
        </p:txBody>
      </p:sp>
      <p:sp>
        <p:nvSpPr>
          <p:cNvPr id="321" name="Google Shape;321;g3d13de09bf6_2_4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13de09bf6_2_19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d13de09bf6_2_19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d13de09bf6_2_19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5e690ff81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5e690ff81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5e690ff81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13de09bf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d13de09bf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~7:20  |  Dispute Resolution</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There are two ways to challenge bad actors, working at different scales.</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A VOUCH DISPUTE is targeted -- think chargeback. You saw this specific voucher back a malicious skill. You post a bond to file the challenge. If you're right, you get their stake plus your bond back. If you're wrong, you lose your bond. Simple.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An AUTHOR DISPUTE is the nuclear option -- it implicates every single person who vouched for that author, all at once. The whole backing set is snapshotted and frozen the moment you file. The author's own security deposit takes the first hit. For paid skills, if that's not enough, the loss flows to backing vouchers.</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Think of it like the difference between suing one financial advisor versus taking down the entire firm that certified them.</a:t>
            </a:r>
          </a:p>
        </p:txBody>
      </p:sp>
      <p:sp>
        <p:nvSpPr>
          <p:cNvPr id="57" name="Google Shape;57;g3d13de09bf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d13de09bf6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d13de09bf6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b="1" i="0" u="none" cap="none" strike="noStrike">
                <a:solidFill>
                  <a:srgbClr val="F28A61"/>
                </a:solidFill>
                <a:latin typeface="Calibri"/>
              </a:rPr>
              <a:t>~8:20  |  What's Built</a:t>
            </a:r>
          </a:p>
          <a:p>
            <a:pPr indent="0" lvl="0" marL="0" rtl="0" algn="l">
              <a:spcBef>
                <a:spcPts val="0"/>
              </a:spcBef>
              <a:spcAft>
                <a:spcPts val="0"/>
              </a:spcAft>
              <a:buNone/>
            </a:pPr>
            <a:r>
              <a:rPr lang="en-US" sz="1000"/>
              <a:t/>
            </a:r>
          </a:p>
          <a:p>
            <a:pPr indent="0" lvl="0" marL="0" rtl="0" algn="l">
              <a:spcBef>
                <a:spcPts val="0"/>
              </a:spcBef>
              <a:spcAft>
                <a:spcPts val="0"/>
              </a:spcAft>
              <a:buNone/>
            </a:pPr>
            <a:r>
              <a:rPr lang="en-US" sz="1200" b="0" i="0" u="none" cap="none" strike="noStrike">
                <a:solidFill>
                  <a:srgbClr val="1F2937"/>
                </a:solidFill>
                <a:latin typeface="Calibri"/>
              </a:rPr>
              <a:t>Everything on the left is live on Solana devnet today -- the full reputation system, marketplace, payment flow, dispute resolution, and web UI at agentvouch.xyz.</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The roadmap is the next layer of sophistication. The biggest gap is transitive trust -- right now vouching is direct. A backs B. The vision is more like a LinkedIn endorsement chain, where A backing B and B backing C gives C some reflected trust from A.</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We also need a formal definition of what 'verified' actually means -- right now trust is a spectrum, not a binary. And longer term, dispute resolution needs to move from a single admin key to community governance.</a:t>
            </a:r>
          </a:p>
          <a:p>
            <a:pPr indent="0" lvl="0" marL="0" rtl="0" algn="l">
              <a:spcBef>
                <a:spcPts val="0"/>
              </a:spcBef>
              <a:spcAft>
                <a:spcPts val="0"/>
              </a:spcAft>
              <a:buNone/>
            </a:pPr>
            <a:r>
              <a:rPr lang="en-US" sz="1200" b="0" i="0" u="none" cap="none" strike="noStrike">
                <a:solidFill>
                  <a:srgbClr val="1F2937"/>
                </a:solidFill>
                <a:latin typeface="Calibri"/>
              </a:rPr>
              <a:t/>
            </a:r>
          </a:p>
          <a:p>
            <a:pPr indent="0" lvl="0" marL="0" rtl="0" algn="l">
              <a:spcBef>
                <a:spcPts val="0"/>
              </a:spcBef>
              <a:spcAft>
                <a:spcPts val="0"/>
              </a:spcAft>
              <a:buNone/>
            </a:pPr>
            <a:r>
              <a:rPr lang="en-US" sz="1200" b="0" i="0" u="none" cap="none" strike="noStrike">
                <a:solidFill>
                  <a:srgbClr val="1F2937"/>
                </a:solidFill>
                <a:latin typeface="Calibri"/>
              </a:rPr>
              <a:t>But the economic core -- stake, vouch, slash, earn -- that's all working today.</a:t>
            </a:r>
          </a:p>
        </p:txBody>
      </p:sp>
      <p:sp>
        <p:nvSpPr>
          <p:cNvPr id="57" name="Google Shape;57;g3d13de09bf6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
        <p:nvSpPr>
          <p:cNvPr id="53" name="Google Shape;53;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agentvouch.xyz" TargetMode="External"/><Relationship Id="rId4" Type="http://schemas.openxmlformats.org/officeDocument/2006/relationships/image" Target="../media/image19.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hyperlink" Target="https://1password.com/blog/from-magic-to-malware-how-openclaws-agent-skills-become-an-attack-surface" TargetMode="External"/><Relationship Id="rId7" Type="http://schemas.openxmlformats.org/officeDocument/2006/relationships/image" Target="../media/image23.png"/><Relationship Id="rId8" Type="http://schemas.openxmlformats.org/officeDocument/2006/relationships/image" Target="../media/image27.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20.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17.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1.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omments" Target="../comments/comment3.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omments" Target="../comments/comment4.xml"/><Relationship Id="rId4" Type="http://schemas.openxmlformats.org/officeDocument/2006/relationships/image" Target="../media/image21.png"/><Relationship Id="rId5" Type="http://schemas.openxmlformats.org/officeDocument/2006/relationships/image" Target="../media/image18.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4.png"/><Relationship Id="rId7" Type="http://schemas.openxmlformats.org/officeDocument/2006/relationships/hyperlink" Target="http://agentvouch.xyz" TargetMode="External"/></Relationships>
</file>

<file path=ppt/slides/_rels/slide9.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faucet.solana.com" TargetMode="External"/><Relationship Id="rId4" Type="http://schemas.openxmlformats.org/officeDocument/2006/relationships/image" Target="../media/image19.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24.png"/><Relationship Id="rId8" Type="http://schemas.openxmlformats.org/officeDocument/2006/relationships/image" Target="../media/image28.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comments" Target="../comments/comment1.xml"/><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20.png"/><Relationship Id="rId7"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3.png"/><Relationship Id="rId4"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24.png"/><Relationship Id="rId8"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8" name="Shape 58"/>
        <p:cNvGrpSpPr/>
        <p:nvPr/>
      </p:nvGrpSpPr>
      <p:grpSpPr>
        <a:xfrm>
          <a:off x="0" y="0"/>
          <a:ext cx="0" cy="0"/>
          <a:chOff x="0" y="0"/>
          <a:chExt cx="0" cy="0"/>
        </a:xfrm>
      </p:grpSpPr>
      <p:sp>
        <p:nvSpPr>
          <p:cNvPr id="59" name="Google Shape;59;p15"/>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i="0" sz="4800" u="none" cap="none" strike="noStrike">
              <a:solidFill>
                <a:schemeClr val="dk2"/>
              </a:solidFill>
              <a:latin typeface="Inconsolata"/>
              <a:ea typeface="Inconsolata"/>
              <a:cs typeface="Inconsolata"/>
              <a:sym typeface="Inconsolata"/>
            </a:endParaRPr>
          </a:p>
        </p:txBody>
      </p:sp>
      <p:sp>
        <p:nvSpPr>
          <p:cNvPr id="62" name="Google Shape;62;p15"/>
          <p:cNvSpPr/>
          <p:nvPr/>
        </p:nvSpPr>
        <p:spPr>
          <a:xfrm>
            <a:off x="640080" y="2194560"/>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2000"/>
              <a:buFont typeface="Calibri"/>
              <a:buNone/>
            </a:pPr>
            <a:r>
              <a:rPr i="0" lang="en" sz="2000" u="none" cap="none" strike="noStrike">
                <a:solidFill>
                  <a:srgbClr val="FD522F"/>
                </a:solidFill>
                <a:latin typeface="Inconsolata"/>
                <a:ea typeface="Inconsolata"/>
                <a:cs typeface="Inconsolata"/>
                <a:sym typeface="Inconsolata"/>
              </a:rPr>
              <a:t>On-Chain Reputation for the Agent Economy</a:t>
            </a:r>
            <a:endParaRPr i="0" sz="2000" u="none" cap="none" strike="noStrike">
              <a:solidFill>
                <a:srgbClr val="FD522F"/>
              </a:solidFill>
              <a:latin typeface="Inconsolata"/>
              <a:ea typeface="Inconsolata"/>
              <a:cs typeface="Inconsolata"/>
              <a:sym typeface="Inconsolata"/>
            </a:endParaRPr>
          </a:p>
        </p:txBody>
      </p:sp>
      <p:sp>
        <p:nvSpPr>
          <p:cNvPr id="63" name="Google Shape;63;p15"/>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chemeClr val="dk2"/>
                </a:solidFill>
                <a:highlight>
                  <a:schemeClr val="lt2"/>
                </a:highlight>
                <a:latin typeface="Inconsolata"/>
                <a:ea typeface="Inconsolata"/>
                <a:cs typeface="Inconsolata"/>
                <a:sym typeface="Inconsolata"/>
              </a:rPr>
              <a:t xml:space="preserve">Skills Marketplace  ·  </a:t>
            </a:r>
            <a:r>
              <a:rPr i="0" lang="en" sz="1300" u="none" cap="none" strike="noStrike">
                <a:solidFill>
                  <a:schemeClr val="dk2"/>
                </a:solidFill>
                <a:highlight>
                  <a:schemeClr val="lt2"/>
                </a:highlight>
                <a:latin typeface="Inconsolata"/>
                <a:ea typeface="Inconsolata"/>
                <a:cs typeface="Inconsolata"/>
                <a:sym typeface="Inconsolata"/>
              </a:rPr>
              <a:t xml:space="preserve">Stake-based </a:t>
            </a:r>
            <a:r>
              <a:rPr lang="en" sz="1300">
                <a:solidFill>
                  <a:schemeClr val="dk2"/>
                </a:solidFill>
                <a:highlight>
                  <a:schemeClr val="lt2"/>
                </a:highlight>
                <a:latin typeface="Inconsolata"/>
                <a:ea typeface="Inconsolata"/>
                <a:cs typeface="Inconsolata"/>
                <a:sym typeface="Inconsolata"/>
              </a:rPr>
              <a:t>V</a:t>
            </a:r>
            <a:r>
              <a:rPr i="0" lang="en" sz="1300" u="none" cap="none" strike="noStrike">
                <a:solidFill>
                  <a:schemeClr val="dk2"/>
                </a:solidFill>
                <a:highlight>
                  <a:schemeClr val="lt2"/>
                </a:highlight>
                <a:latin typeface="Inconsolata"/>
                <a:ea typeface="Inconsolata"/>
                <a:cs typeface="Inconsolata"/>
                <a:sym typeface="Inconsolata"/>
              </a:rPr>
              <a:t>ouching</a:t>
            </a:r>
            <a:r>
              <a:rPr lang="en" sz="1300">
                <a:solidFill>
                  <a:schemeClr val="dk2"/>
                </a:solidFill>
                <a:highlight>
                  <a:schemeClr val="lt2"/>
                </a:highlight>
                <a:latin typeface="Inconsolata"/>
                <a:ea typeface="Inconsolata"/>
                <a:cs typeface="Inconsolata"/>
                <a:sym typeface="Inconsolata"/>
              </a:rPr>
              <a:t xml:space="preserve"> </a:t>
            </a:r>
            <a:r>
              <a:rPr i="0" lang="en" sz="1300" u="none" cap="none" strike="noStrike">
                <a:solidFill>
                  <a:schemeClr val="dk2"/>
                </a:solidFill>
                <a:highlight>
                  <a:schemeClr val="lt2"/>
                </a:highlight>
                <a:latin typeface="Inconsolata"/>
                <a:ea typeface="Inconsolata"/>
                <a:cs typeface="Inconsolata"/>
                <a:sym typeface="Inconsolata"/>
              </a:rPr>
              <a:t xml:space="preserve"> ·  Programmable Trust</a:t>
            </a:r>
            <a:endParaRPr i="0" sz="1300" u="none" cap="none" strike="noStrike">
              <a:solidFill>
                <a:schemeClr val="dk2"/>
              </a:solidFill>
              <a:highlight>
                <a:schemeClr val="lt2"/>
              </a:highlight>
              <a:latin typeface="Inconsolata"/>
              <a:ea typeface="Inconsolata"/>
              <a:cs typeface="Inconsolata"/>
              <a:sym typeface="Inconsolata"/>
            </a:endParaRPr>
          </a:p>
        </p:txBody>
      </p:sp>
      <p:sp>
        <p:nvSpPr>
          <p:cNvPr id="64" name="Google Shape;64;p15"/>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0" lang="en" sz="1100" u="none" cap="none" strike="noStrike">
                <a:solidFill>
                  <a:srgbClr val="6B7280"/>
                </a:solidFill>
                <a:latin typeface="Inconsolata"/>
                <a:ea typeface="Inconsolata"/>
                <a:cs typeface="Inconsolata"/>
                <a:sym typeface="Inconsolata"/>
              </a:rPr>
              <a:t xml:space="preserve">Colosseum Agent Hackathon  ·  Built </a:t>
            </a:r>
            <a:r>
              <a:rPr lang="en" sz="1100">
                <a:solidFill>
                  <a:srgbClr val="6B7280"/>
                </a:solidFill>
                <a:latin typeface="Inconsolata"/>
                <a:ea typeface="Inconsolata"/>
                <a:cs typeface="Inconsolata"/>
                <a:sym typeface="Inconsolata"/>
              </a:rPr>
              <a:t>for agents and people</a:t>
            </a:r>
            <a:r>
              <a:rPr i="0" lang="en" sz="1100" u="none" cap="none" strike="noStrike">
                <a:solidFill>
                  <a:srgbClr val="6B7280"/>
                </a:solidFill>
                <a:latin typeface="Inconsolata"/>
                <a:ea typeface="Inconsolata"/>
                <a:cs typeface="Inconsolata"/>
                <a:sym typeface="Inconsolata"/>
              </a:rPr>
              <a:t xml:space="preserve">  ·  Solana Devnet</a:t>
            </a:r>
            <a:endParaRPr i="0" sz="1100" u="none" cap="none" strike="noStrike">
              <a:solidFill>
                <a:schemeClr val="dk1"/>
              </a:solidFill>
              <a:latin typeface="Inconsolata"/>
              <a:ea typeface="Inconsolata"/>
              <a:cs typeface="Inconsolata"/>
              <a:sym typeface="Inconsolata"/>
            </a:endParaRPr>
          </a:p>
        </p:txBody>
      </p:sp>
      <p:sp>
        <p:nvSpPr>
          <p:cNvPr id="65" name="Google Shape;65;p15"/>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300"/>
              <a:buFont typeface="Consolas"/>
              <a:buNone/>
            </a:pPr>
            <a:r>
              <a:rPr i="0" lang="en" sz="1300" u="sng" cap="none" strike="noStrike">
                <a:solidFill>
                  <a:schemeClr val="hlink"/>
                </a:solidFill>
                <a:latin typeface="Inconsolata"/>
                <a:ea typeface="Inconsolata"/>
                <a:cs typeface="Inconsolata"/>
                <a:sym typeface="Inconsolata"/>
                <a:hlinkClick r:id="rId3"/>
              </a:rPr>
              <a:t>agentvouch.xyz</a:t>
            </a:r>
            <a:endParaRPr i="0" sz="1300" u="none" cap="none" strike="noStrike">
              <a:solidFill>
                <a:schemeClr val="dk1"/>
              </a:solidFill>
              <a:latin typeface="Inconsolata"/>
              <a:ea typeface="Inconsolata"/>
              <a:cs typeface="Inconsolata"/>
              <a:sym typeface="Inconsolata"/>
            </a:endParaRPr>
          </a:p>
        </p:txBody>
      </p:sp>
      <p:sp>
        <p:nvSpPr>
          <p:cNvPr id="66" name="Google Shape;66;p1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7" name="Google Shape;67;p15"/>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1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68" name="Google Shape;68;p15" title="favicon.png"/>
          <p:cNvPicPr preferRelativeResize="0"/>
          <p:nvPr/>
        </p:nvPicPr>
        <p:blipFill>
          <a:blip r:embed="rId4">
            <a:alphaModFix/>
          </a:blip>
          <a:stretch>
            <a:fillRect/>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3" name="Shape 73"/>
        <p:cNvGrpSpPr/>
        <p:nvPr/>
      </p:nvGrpSpPr>
      <p:grpSpPr>
        <a:xfrm>
          <a:off x="0" y="0"/>
          <a:ext cx="0" cy="0"/>
          <a:chOff x="0" y="0"/>
          <a:chExt cx="0" cy="0"/>
        </a:xfrm>
      </p:grpSpPr>
      <p:sp>
        <p:nvSpPr>
          <p:cNvPr id="74" name="Google Shape;74;p16"/>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76" name="Google Shape;76;p16"/>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a:ea typeface="Inconsolata"/>
                <a:cs typeface="Inconsolata"/>
                <a:sym typeface="Inconsolata"/>
              </a:rPr>
              <a:t>The Agent Security Crisis</a:t>
            </a:r>
            <a:endParaRPr i="0" sz="3600" u="none" cap="none" strike="noStrike">
              <a:solidFill>
                <a:schemeClr val="dk2"/>
              </a:solidFill>
              <a:latin typeface="Inconsolata"/>
              <a:ea typeface="Inconsolata"/>
              <a:cs typeface="Inconsolata"/>
              <a:sym typeface="Inconsolata"/>
            </a:endParaRPr>
          </a:p>
        </p:txBody>
      </p:sp>
      <p:grpSp>
        <p:nvGrpSpPr>
          <p:cNvPr id="77" name="Google Shape;77;p16"/>
          <p:cNvGrpSpPr/>
          <p:nvPr/>
        </p:nvGrpSpPr>
        <p:grpSpPr>
          <a:xfrm>
            <a:off x="5102350" y="2889475"/>
            <a:ext cx="3840600" cy="1463100"/>
            <a:chOff x="5102350" y="3063225"/>
            <a:chExt cx="3840600" cy="1463100"/>
          </a:xfrm>
        </p:grpSpPr>
        <p:sp>
          <p:nvSpPr>
            <p:cNvPr id="78" name="Google Shape;78;p16"/>
            <p:cNvSpPr/>
            <p:nvPr/>
          </p:nvSpPr>
          <p:spPr>
            <a:xfrm>
              <a:off x="5102350" y="3063225"/>
              <a:ext cx="3840600" cy="14631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16"/>
            <p:cNvPicPr preferRelativeResize="0"/>
            <p:nvPr/>
          </p:nvPicPr>
          <p:blipFill rotWithShape="1">
            <a:blip r:embed="rId3">
              <a:alphaModFix/>
            </a:blip>
            <a:srcRect b="0" l="0" r="0" t="0"/>
            <a:stretch/>
          </p:blipFill>
          <p:spPr>
            <a:xfrm>
              <a:off x="5330950" y="3200385"/>
              <a:ext cx="365760" cy="365760"/>
            </a:xfrm>
            <a:prstGeom prst="rect">
              <a:avLst/>
            </a:prstGeom>
            <a:noFill/>
            <a:ln>
              <a:noFill/>
            </a:ln>
          </p:spPr>
        </p:pic>
        <p:sp>
          <p:nvSpPr>
            <p:cNvPr id="80" name="Google Shape;80;p16"/>
            <p:cNvSpPr/>
            <p:nvPr/>
          </p:nvSpPr>
          <p:spPr>
            <a:xfrm>
              <a:off x="5833875" y="3200375"/>
              <a:ext cx="1494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3200"/>
                <a:buFont typeface="Arial Black"/>
                <a:buNone/>
              </a:pPr>
              <a:r>
                <a:rPr i="0" lang="en" sz="2100" u="none" cap="none" strike="noStrike">
                  <a:solidFill>
                    <a:srgbClr val="EF4444"/>
                  </a:solidFill>
                  <a:latin typeface="Inconsolata Medium"/>
                  <a:ea typeface="Inconsolata Medium"/>
                  <a:cs typeface="Inconsolata Medium"/>
                  <a:sym typeface="Inconsolata Medium"/>
                </a:rPr>
                <a:t>1 in 286</a:t>
              </a:r>
              <a:endParaRPr i="0" sz="2100" u="none" cap="none" strike="noStrike">
                <a:solidFill>
                  <a:schemeClr val="dk1"/>
                </a:solidFill>
                <a:latin typeface="Inconsolata Medium"/>
                <a:ea typeface="Inconsolata Medium"/>
                <a:cs typeface="Inconsolata Medium"/>
                <a:sym typeface="Inconsolata Medium"/>
              </a:endParaRPr>
            </a:p>
          </p:txBody>
        </p:sp>
        <p:sp>
          <p:nvSpPr>
            <p:cNvPr id="81" name="Google Shape;81;p16"/>
            <p:cNvSpPr/>
            <p:nvPr/>
          </p:nvSpPr>
          <p:spPr>
            <a:xfrm>
              <a:off x="5330950" y="365758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b="0" i="0" lang="en" sz="1300" u="none" cap="none" strike="noStrike">
                  <a:solidFill>
                    <a:srgbClr val="D1D5DB"/>
                  </a:solidFill>
                  <a:latin typeface="Calibri"/>
                  <a:ea typeface="Calibri"/>
                  <a:cs typeface="Calibri"/>
                  <a:sym typeface="Calibri"/>
                </a:rPr>
                <a:t>agent skills is a credential stealer</a:t>
              </a:r>
              <a:endParaRPr b="0" i="0" sz="1300" u="none" cap="none" strike="noStrike">
                <a:solidFill>
                  <a:schemeClr val="dk1"/>
                </a:solidFill>
                <a:latin typeface="Calibri"/>
                <a:ea typeface="Calibri"/>
                <a:cs typeface="Calibri"/>
                <a:sym typeface="Calibri"/>
              </a:endParaRPr>
            </a:p>
          </p:txBody>
        </p:sp>
        <p:sp>
          <p:nvSpPr>
            <p:cNvPr id="82" name="Google Shape;82;p16"/>
            <p:cNvSpPr/>
            <p:nvPr/>
          </p:nvSpPr>
          <p:spPr>
            <a:xfrm>
              <a:off x="5330950" y="4023345"/>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1" lang="en" sz="1000" u="none" cap="none" strike="noStrike">
                  <a:solidFill>
                    <a:srgbClr val="D1D5DB"/>
                  </a:solidFill>
                  <a:latin typeface="Calibri"/>
                  <a:ea typeface="Calibri"/>
                  <a:cs typeface="Calibri"/>
                  <a:sym typeface="Calibri"/>
                </a:rPr>
                <a:t>Discovered by researcher Rufio scanning ClawHub, Jan 2026</a:t>
              </a:r>
              <a:endParaRPr b="0" i="0" sz="1000" u="none" cap="none" strike="noStrike">
                <a:solidFill>
                  <a:schemeClr val="dk1"/>
                </a:solidFill>
                <a:latin typeface="Calibri"/>
                <a:ea typeface="Calibri"/>
                <a:cs typeface="Calibri"/>
                <a:sym typeface="Calibri"/>
              </a:endParaRPr>
            </a:p>
          </p:txBody>
        </p:sp>
      </p:grpSp>
      <p:grpSp>
        <p:nvGrpSpPr>
          <p:cNvPr id="83" name="Google Shape;83;p16"/>
          <p:cNvGrpSpPr/>
          <p:nvPr/>
        </p:nvGrpSpPr>
        <p:grpSpPr>
          <a:xfrm>
            <a:off x="5102521" y="1461584"/>
            <a:ext cx="3813060" cy="1418914"/>
            <a:chOff x="4983480" y="1417300"/>
            <a:chExt cx="3931800" cy="1463100"/>
          </a:xfrm>
        </p:grpSpPr>
        <p:sp>
          <p:nvSpPr>
            <p:cNvPr id="84" name="Google Shape;84;p16"/>
            <p:cNvSpPr/>
            <p:nvPr/>
          </p:nvSpPr>
          <p:spPr>
            <a:xfrm>
              <a:off x="4983480" y="1417300"/>
              <a:ext cx="3931800" cy="1463100"/>
            </a:xfrm>
            <a:prstGeom prst="rect">
              <a:avLst/>
            </a:prstGeom>
            <a:solidFill>
              <a:srgbClr val="1F2937"/>
            </a:solidFill>
            <a:ln>
              <a:noFill/>
            </a:ln>
            <a:effectLst>
              <a:outerShdw blurRad="73896" rotWithShape="0" algn="bl" dir="8100000" dist="24632">
                <a:srgbClr val="000000">
                  <a:alpha val="20000"/>
                </a:srgbClr>
              </a:outerShdw>
            </a:effectLst>
          </p:spPr>
          <p:txBody>
            <a:bodyPr anchorCtr="0" anchor="ctr" bIns="88650" lIns="88650" spcFirstLastPara="1" rIns="88650" wrap="square" tIns="88650">
              <a:noAutofit/>
            </a:bodyPr>
            <a:lstStyle/>
            <a:p>
              <a:pPr indent="0" lvl="0" marL="0" rtl="0" algn="l">
                <a:spcBef>
                  <a:spcPts val="0"/>
                </a:spcBef>
                <a:spcAft>
                  <a:spcPts val="0"/>
                </a:spcAft>
                <a:buNone/>
              </a:pPr>
              <a:r>
                <a:t/>
              </a:r>
              <a:endParaRPr/>
            </a:p>
          </p:txBody>
        </p:sp>
        <p:pic>
          <p:nvPicPr>
            <p:cNvPr descr="preencoded.png" id="85" name="Google Shape;85;p16"/>
            <p:cNvPicPr preferRelativeResize="0"/>
            <p:nvPr/>
          </p:nvPicPr>
          <p:blipFill rotWithShape="1">
            <a:blip r:embed="rId4">
              <a:alphaModFix/>
            </a:blip>
            <a:srcRect b="0" l="0" r="0" t="0"/>
            <a:stretch/>
          </p:blipFill>
          <p:spPr>
            <a:xfrm>
              <a:off x="5212080" y="1554460"/>
              <a:ext cx="365760" cy="365760"/>
            </a:xfrm>
            <a:prstGeom prst="rect">
              <a:avLst/>
            </a:prstGeom>
            <a:noFill/>
            <a:ln>
              <a:noFill/>
            </a:ln>
          </p:spPr>
        </p:pic>
        <p:sp>
          <p:nvSpPr>
            <p:cNvPr id="86" name="Google Shape;86;p16"/>
            <p:cNvSpPr/>
            <p:nvPr/>
          </p:nvSpPr>
          <p:spPr>
            <a:xfrm>
              <a:off x="5715000" y="1463020"/>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715"/>
                <a:buFont typeface="Arial Black"/>
                <a:buNone/>
              </a:pPr>
              <a:r>
                <a:rPr i="0" lang="en" sz="2037" u="none" cap="none" strike="noStrike">
                  <a:solidFill>
                    <a:srgbClr val="F59E0B"/>
                  </a:solidFill>
                  <a:latin typeface="Inconsolata Medium"/>
                  <a:ea typeface="Inconsolata Medium"/>
                  <a:cs typeface="Inconsolata Medium"/>
                  <a:sym typeface="Inconsolata Medium"/>
                </a:rPr>
                <a:t>109K comments</a:t>
              </a:r>
              <a:endParaRPr i="0" sz="2037" u="none" cap="none" strike="noStrike">
                <a:solidFill>
                  <a:schemeClr val="dk1"/>
                </a:solidFill>
                <a:latin typeface="Inconsolata Medium"/>
                <a:ea typeface="Inconsolata Medium"/>
                <a:cs typeface="Inconsolata Medium"/>
                <a:sym typeface="Inconsolata Medium"/>
              </a:endParaRPr>
            </a:p>
          </p:txBody>
        </p:sp>
        <p:sp>
          <p:nvSpPr>
            <p:cNvPr id="87" name="Google Shape;87;p16"/>
            <p:cNvSpPr/>
            <p:nvPr/>
          </p:nvSpPr>
          <p:spPr>
            <a:xfrm>
              <a:off x="5212080" y="201166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61"/>
                <a:buFont typeface="Calibri"/>
                <a:buNone/>
              </a:pPr>
              <a:r>
                <a:rPr b="0" i="0" lang="en" sz="1261" u="none" cap="none" strike="noStrike">
                  <a:solidFill>
                    <a:srgbClr val="D1D5DB"/>
                  </a:solidFill>
                  <a:latin typeface="Calibri"/>
                  <a:ea typeface="Calibri"/>
                  <a:cs typeface="Calibri"/>
                  <a:sym typeface="Calibri"/>
                </a:rPr>
                <a:t>on the Moltbook post that broke the story</a:t>
              </a:r>
              <a:endParaRPr b="0" i="0" sz="1261" u="none" cap="none" strike="noStrike">
                <a:solidFill>
                  <a:schemeClr val="dk1"/>
                </a:solidFill>
                <a:latin typeface="Calibri"/>
                <a:ea typeface="Calibri"/>
                <a:cs typeface="Calibri"/>
                <a:sym typeface="Calibri"/>
              </a:endParaRPr>
            </a:p>
          </p:txBody>
        </p:sp>
        <p:sp>
          <p:nvSpPr>
            <p:cNvPr id="88" name="Google Shape;88;p16"/>
            <p:cNvSpPr/>
            <p:nvPr/>
          </p:nvSpPr>
          <p:spPr>
            <a:xfrm>
              <a:off x="5212080" y="2377420"/>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970"/>
                <a:buFont typeface="Calibri"/>
                <a:buNone/>
              </a:pPr>
              <a:r>
                <a:rPr b="0" i="1" lang="en" sz="970" u="none" cap="none" strike="noStrike">
                  <a:solidFill>
                    <a:srgbClr val="D1D5DB"/>
                  </a:solidFill>
                  <a:latin typeface="Calibri"/>
                  <a:ea typeface="Calibri"/>
                  <a:cs typeface="Calibri"/>
                  <a:sym typeface="Calibri"/>
                </a:rPr>
                <a:t>4,500 upvotes — unprecedented for agent security</a:t>
              </a:r>
              <a:endParaRPr b="0" i="0" sz="970" u="none" cap="none" strike="noStrike">
                <a:solidFill>
                  <a:schemeClr val="dk1"/>
                </a:solidFill>
                <a:latin typeface="Calibri"/>
                <a:ea typeface="Calibri"/>
                <a:cs typeface="Calibri"/>
                <a:sym typeface="Calibri"/>
              </a:endParaRPr>
            </a:p>
          </p:txBody>
        </p:sp>
      </p:grpSp>
      <p:pic>
        <p:nvPicPr>
          <p:cNvPr descr="preencoded.png" id="89" name="Google Shape;89;p16"/>
          <p:cNvPicPr preferRelativeResize="0"/>
          <p:nvPr/>
        </p:nvPicPr>
        <p:blipFill rotWithShape="1">
          <a:blip r:embed="rId5">
            <a:alphaModFix/>
          </a:blip>
          <a:srcRect b="0" l="0" r="0" t="0"/>
          <a:stretch/>
        </p:blipFill>
        <p:spPr>
          <a:xfrm>
            <a:off x="548640" y="3154680"/>
            <a:ext cx="201168" cy="201168"/>
          </a:xfrm>
          <a:prstGeom prst="rect">
            <a:avLst/>
          </a:prstGeom>
          <a:noFill/>
          <a:ln>
            <a:noFill/>
          </a:ln>
        </p:spPr>
      </p:pic>
      <p:sp>
        <p:nvSpPr>
          <p:cNvPr id="90" name="Google Shape;90;p16"/>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xml:space="preserve">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91" name="Google Shape;91;p16"/>
          <p:cNvPicPr preferRelativeResize="0"/>
          <p:nvPr/>
        </p:nvPicPr>
        <p:blipFill rotWithShape="1">
          <a:blip r:embed="rId5">
            <a:alphaModFix/>
          </a:blip>
          <a:srcRect b="0" l="0" r="0" t="0"/>
          <a:stretch/>
        </p:blipFill>
        <p:spPr>
          <a:xfrm>
            <a:off x="548640" y="3520440"/>
            <a:ext cx="201168" cy="201168"/>
          </a:xfrm>
          <a:prstGeom prst="rect">
            <a:avLst/>
          </a:prstGeom>
          <a:noFill/>
          <a:ln>
            <a:noFill/>
          </a:ln>
        </p:spPr>
      </p:pic>
      <p:sp>
        <p:nvSpPr>
          <p:cNvPr id="92" name="Google Shape;92;p16"/>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 xml:space="preserve">No sandboxing </a:t>
            </a:r>
            <a:r>
              <a:rPr b="1" i="0" lang="en" sz="1300" u="none" cap="none" strike="noStrike">
                <a:solidFill>
                  <a:srgbClr val="F3F4F6"/>
                </a:solidFill>
                <a:latin typeface="Calibri"/>
                <a:ea typeface="Calibri"/>
                <a:cs typeface="Calibri"/>
                <a:sym typeface="Calibri"/>
              </a:rPr>
              <a:t xml:space="preserve"> </a:t>
            </a:r>
            <a:r>
              <a:rPr b="0" i="0" lang="en" sz="1200" u="none" cap="none" strike="noStrike">
                <a:solidFill>
                  <a:srgbClr val="6B7280"/>
                </a:solidFill>
                <a:latin typeface="Calibri"/>
                <a:ea typeface="Calibri"/>
                <a:cs typeface="Calibri"/>
                <a:sym typeface="Calibri"/>
              </a:rPr>
              <a:t>Full agent permissions</a:t>
            </a:r>
            <a:r>
              <a:rPr lang="en" sz="1200">
                <a:solidFill>
                  <a:srgbClr val="6B7280"/>
                </a:solidFill>
                <a:latin typeface="Calibri"/>
                <a:ea typeface="Calibri"/>
                <a:cs typeface="Calibri"/>
                <a:sym typeface="Calibri"/>
              </a:rPr>
              <a:t xml:space="preserve"> - </a:t>
            </a:r>
            <a:r>
              <a:rPr b="0" i="0" lang="en" sz="1200" u="none" cap="none" strike="noStrike">
                <a:solidFill>
                  <a:srgbClr val="6B7280"/>
                </a:solidFill>
                <a:latin typeface="Calibri"/>
                <a:ea typeface="Calibri"/>
                <a:cs typeface="Calibri"/>
                <a:sym typeface="Calibri"/>
              </a:rPr>
              <a:t>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93" name="Google Shape;93;p16"/>
          <p:cNvPicPr preferRelativeResize="0"/>
          <p:nvPr/>
        </p:nvPicPr>
        <p:blipFill rotWithShape="1">
          <a:blip r:embed="rId5">
            <a:alphaModFix/>
          </a:blip>
          <a:srcRect b="0" l="0" r="0" t="0"/>
          <a:stretch/>
        </p:blipFill>
        <p:spPr>
          <a:xfrm>
            <a:off x="548640" y="3886200"/>
            <a:ext cx="201168" cy="201168"/>
          </a:xfrm>
          <a:prstGeom prst="rect">
            <a:avLst/>
          </a:prstGeom>
          <a:noFill/>
          <a:ln>
            <a:noFill/>
          </a:ln>
        </p:spPr>
      </p:pic>
      <p:sp>
        <p:nvSpPr>
          <p:cNvPr id="94" name="Google Shape;94;p16"/>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 xml:space="preserve">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95" name="Google Shape;95;p16"/>
          <p:cNvPicPr preferRelativeResize="0"/>
          <p:nvPr/>
        </p:nvPicPr>
        <p:blipFill rotWithShape="1">
          <a:blip r:embed="rId5">
            <a:alphaModFix/>
          </a:blip>
          <a:srcRect b="0" l="0" r="0" t="0"/>
          <a:stretch/>
        </p:blipFill>
        <p:spPr>
          <a:xfrm>
            <a:off x="548640" y="4251960"/>
            <a:ext cx="201168" cy="201168"/>
          </a:xfrm>
          <a:prstGeom prst="rect">
            <a:avLst/>
          </a:prstGeom>
          <a:noFill/>
          <a:ln>
            <a:noFill/>
          </a:ln>
        </p:spPr>
      </p:pic>
      <p:sp>
        <p:nvSpPr>
          <p:cNvPr id="96" name="Google Shape;96;p16"/>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 xml:space="preserve">No audit trail </a:t>
            </a:r>
            <a:r>
              <a:rPr b="1" i="0" lang="en" sz="1300" u="none" cap="none" strike="noStrike">
                <a:solidFill>
                  <a:srgbClr val="F3F4F6"/>
                </a:solidFill>
                <a:latin typeface="Calibri"/>
                <a:ea typeface="Calibri"/>
                <a:cs typeface="Calibri"/>
                <a:sym typeface="Calibri"/>
              </a:rPr>
              <a:t xml:space="preserve">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97" name="Google Shape;97;p1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8" name="Google Shape;98;p1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2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99" name="Google Shape;99;p16"/>
          <p:cNvSpPr/>
          <p:nvPr/>
        </p:nvSpPr>
        <p:spPr>
          <a:xfrm>
            <a:off x="597475" y="1279975"/>
            <a:ext cx="3931800" cy="15774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1329000" y="1440145"/>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2800"/>
              <a:buFont typeface="Arial Black"/>
              <a:buNone/>
            </a:pPr>
            <a:r>
              <a:rPr lang="en" sz="2100">
                <a:solidFill>
                  <a:srgbClr val="FD522F"/>
                </a:solidFill>
                <a:latin typeface="Inconsolata Medium"/>
                <a:ea typeface="Inconsolata Medium"/>
                <a:cs typeface="Inconsolata Medium"/>
                <a:sym typeface="Inconsolata Medium"/>
              </a:rPr>
              <a:t>Top-download skill was malware</a:t>
            </a:r>
            <a:endParaRPr i="0" sz="2100" u="none" cap="none" strike="noStrike">
              <a:solidFill>
                <a:srgbClr val="FD522F"/>
              </a:solidFill>
              <a:latin typeface="Inconsolata Medium"/>
              <a:ea typeface="Inconsolata Medium"/>
              <a:cs typeface="Inconsolata Medium"/>
              <a:sym typeface="Inconsolata Medium"/>
            </a:endParaRPr>
          </a:p>
        </p:txBody>
      </p:sp>
      <p:sp>
        <p:nvSpPr>
          <p:cNvPr id="101" name="Google Shape;101;p16"/>
          <p:cNvSpPr/>
          <p:nvPr/>
        </p:nvSpPr>
        <p:spPr>
          <a:xfrm>
            <a:off x="826075" y="1988775"/>
            <a:ext cx="3595800" cy="42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rgbClr val="D1D5DB"/>
                </a:solidFill>
                <a:latin typeface="Calibri"/>
                <a:ea typeface="Calibri"/>
                <a:cs typeface="Calibri"/>
                <a:sym typeface="Calibri"/>
              </a:rPr>
              <a:t>Staged infostealer delivery disguised as setup instructions</a:t>
            </a:r>
            <a:endParaRPr b="0" i="0" sz="1300" u="none" cap="none" strike="noStrike">
              <a:solidFill>
                <a:schemeClr val="dk1"/>
              </a:solidFill>
              <a:latin typeface="Calibri"/>
              <a:ea typeface="Calibri"/>
              <a:cs typeface="Calibri"/>
              <a:sym typeface="Calibri"/>
            </a:endParaRPr>
          </a:p>
        </p:txBody>
      </p:sp>
      <p:sp>
        <p:nvSpPr>
          <p:cNvPr id="102" name="Google Shape;102;p16"/>
          <p:cNvSpPr/>
          <p:nvPr/>
        </p:nvSpPr>
        <p:spPr>
          <a:xfrm>
            <a:off x="826080" y="2354545"/>
            <a:ext cx="3474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i="1" lang="en" sz="1000" u="sng">
                <a:solidFill>
                  <a:schemeClr val="hlink"/>
                </a:solidFill>
                <a:latin typeface="Calibri"/>
                <a:ea typeface="Calibri"/>
                <a:cs typeface="Calibri"/>
                <a:sym typeface="Calibri"/>
                <a:hlinkClick r:id="rId6"/>
              </a:rPr>
              <a:t xml:space="preserve"> https://1password.com/blog/from-magic-to-malware-how-openclaws-agent-skills-become-an-attack-surface</a:t>
            </a:r>
            <a:endParaRPr b="0" i="0" sz="1000" u="none" cap="none" strike="noStrike">
              <a:solidFill>
                <a:schemeClr val="dk1"/>
              </a:solidFill>
              <a:latin typeface="Calibri"/>
              <a:ea typeface="Calibri"/>
              <a:cs typeface="Calibri"/>
              <a:sym typeface="Calibri"/>
            </a:endParaRPr>
          </a:p>
        </p:txBody>
      </p:sp>
      <p:pic>
        <p:nvPicPr>
          <p:cNvPr descr="preencoded.png" id="103" name="Google Shape;103;p16"/>
          <p:cNvPicPr preferRelativeResize="0"/>
          <p:nvPr/>
        </p:nvPicPr>
        <p:blipFill rotWithShape="1">
          <a:blip r:embed="rId7">
            <a:alphaModFix/>
          </a:blip>
          <a:srcRect b="0" l="0" r="0" t="0"/>
          <a:stretch/>
        </p:blipFill>
        <p:spPr>
          <a:xfrm>
            <a:off x="784155" y="1485895"/>
            <a:ext cx="320040" cy="320040"/>
          </a:xfrm>
          <a:prstGeom prst="rect">
            <a:avLst/>
          </a:prstGeom>
          <a:noFill/>
          <a:ln>
            <a:noFill/>
          </a:ln>
        </p:spPr>
      </p:pic>
      <p:pic>
        <p:nvPicPr>
          <p:cNvPr id="104" name="Google Shape;104;p16"/>
          <p:cNvPicPr preferRelativeResize="0"/>
          <p:nvPr/>
        </p:nvPicPr>
        <p:blipFill>
          <a:blip r:embed="rId8">
            <a:alphaModFix/>
          </a:blip>
          <a:stretch>
            <a:fillRect/>
          </a:stretch>
        </p:blipFill>
        <p:spPr>
          <a:xfrm>
            <a:off x="597475" y="1277700"/>
            <a:ext cx="4114799" cy="1650818"/>
          </a:xfrm>
          <a:prstGeom prst="rect">
            <a:avLst/>
          </a:prstGeom>
          <a:noFill/>
          <a:ln>
            <a:noFill/>
          </a:ln>
        </p:spPr>
      </p:pic>
      <p:pic>
        <p:nvPicPr>
          <p:cNvPr id="105" name="Google Shape;105;p16"/>
          <p:cNvPicPr preferRelativeResize="0"/>
          <p:nvPr/>
        </p:nvPicPr>
        <p:blipFill>
          <a:blip r:embed="rId9">
            <a:alphaModFix/>
          </a:blip>
          <a:stretch>
            <a:fillRect/>
          </a:stretch>
        </p:blipFill>
        <p:spPr>
          <a:xfrm>
            <a:off x="5102350" y="1279975"/>
            <a:ext cx="3840599" cy="30632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 name="Shape 110"/>
        <p:cNvGrpSpPr/>
        <p:nvPr/>
      </p:nvGrpSpPr>
      <p:grpSpPr>
        <a:xfrm>
          <a:off x="0" y="0"/>
          <a:ext cx="0" cy="0"/>
          <a:chOff x="0" y="0"/>
          <a:chExt cx="0" cy="0"/>
        </a:xfrm>
      </p:grpSpPr>
      <p:sp>
        <p:nvSpPr>
          <p:cNvPr id="111" name="Google Shape;111;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Medium"/>
                <a:ea typeface="Inconsolata Medium"/>
                <a:cs typeface="Inconsolata Medium"/>
                <a:sym typeface="Inconsolata Medium"/>
              </a:rPr>
              <a:t>Why It's Worse Than You Think</a:t>
            </a:r>
            <a:endParaRPr i="0" sz="3600" u="none" cap="none" strike="noStrike">
              <a:solidFill>
                <a:schemeClr val="dk2"/>
              </a:solidFill>
              <a:latin typeface="Inconsolata Medium"/>
              <a:ea typeface="Inconsolata Medium"/>
              <a:cs typeface="Inconsolata Medium"/>
              <a:sym typeface="Inconsolata Medium"/>
            </a:endParaRPr>
          </a:p>
        </p:txBody>
      </p:sp>
      <p:sp>
        <p:nvSpPr>
          <p:cNvPr id="114" name="Google Shape;114;p17"/>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Instruction Injection</a:t>
            </a:r>
            <a:endParaRPr i="0" sz="1800" u="none" cap="none" strike="noStrike">
              <a:solidFill>
                <a:schemeClr val="dk1"/>
              </a:solidFill>
              <a:latin typeface="Inconsolata"/>
              <a:ea typeface="Inconsolata"/>
              <a:cs typeface="Inconsolata"/>
              <a:sym typeface="Inconsolata"/>
            </a:endParaRPr>
          </a:p>
        </p:txBody>
      </p:sp>
      <p:sp>
        <p:nvSpPr>
          <p:cNvPr id="115" name="Google Shape;115;p17"/>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16" name="Google Shape;116;p17"/>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18" name="Google Shape;118;p17"/>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Self-Replicating Agents</a:t>
            </a:r>
            <a:endParaRPr i="0" sz="1800" u="none" cap="none" strike="noStrike">
              <a:solidFill>
                <a:schemeClr val="dk1"/>
              </a:solidFill>
              <a:latin typeface="Inconsolata"/>
              <a:ea typeface="Inconsolata"/>
              <a:cs typeface="Inconsolata"/>
              <a:sym typeface="Inconsolata"/>
            </a:endParaRPr>
          </a:p>
        </p:txBody>
      </p:sp>
      <p:sp>
        <p:nvSpPr>
          <p:cNvPr id="119" name="Google Shape;119;p17"/>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20" name="Google Shape;120;p17"/>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22" name="Google Shape;122;p17"/>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24" name="Google Shape;124;p17"/>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26" name="Google Shape;126;p17"/>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28" name="Google Shape;128;p17"/>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30" name="Google Shape;130;p17"/>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32" name="Google Shape;132;p17"/>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17"/>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34" name="Google Shape;134;p17"/>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i="0" sz="1100" u="none" cap="none" strike="noStrike">
              <a:solidFill>
                <a:schemeClr val="dk1"/>
              </a:solidFill>
              <a:latin typeface="Inconsolata"/>
              <a:ea typeface="Inconsolata"/>
              <a:cs typeface="Inconsolata"/>
              <a:sym typeface="Inconsolata"/>
            </a:endParaRPr>
          </a:p>
        </p:txBody>
      </p:sp>
      <p:sp>
        <p:nvSpPr>
          <p:cNvPr id="135" name="Google Shape;135;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36" name="Google Shape;136;p1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3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44" name="Google Shape;144;p18"/>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400"/>
              <a:buFont typeface="Arial Black"/>
              <a:buNone/>
            </a:pPr>
            <a:r>
              <a:rPr i="0" lang="en" sz="3400" u="none" cap="none" strike="noStrike">
                <a:solidFill>
                  <a:schemeClr val="dk2"/>
                </a:solidFill>
                <a:latin typeface="Inconsolata"/>
                <a:ea typeface="Inconsolata"/>
                <a:cs typeface="Inconsolata"/>
                <a:sym typeface="Inconsolata"/>
              </a:rPr>
              <a:t>Reputation With Consequences</a:t>
            </a:r>
            <a:endParaRPr i="0" sz="3400" u="none" cap="none" strike="noStrike">
              <a:solidFill>
                <a:schemeClr val="dk2"/>
              </a:solidFill>
              <a:latin typeface="Inconsolata"/>
              <a:ea typeface="Inconsolata"/>
              <a:cs typeface="Inconsolata"/>
              <a:sym typeface="Inconsolata"/>
            </a:endParaRPr>
          </a:p>
        </p:txBody>
      </p:sp>
      <p:sp>
        <p:nvSpPr>
          <p:cNvPr id="145" name="Google Shape;145;p18"/>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46" name="Google Shape;146;p18"/>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 name="Google Shape;148;p18"/>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49" name="Google Shape;149;p18"/>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Stake-Based</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Vouching</a:t>
            </a:r>
            <a:endParaRPr i="0" sz="1600" u="none" cap="none" strike="noStrike">
              <a:solidFill>
                <a:schemeClr val="dk1"/>
              </a:solidFill>
              <a:latin typeface="Inconsolata"/>
              <a:ea typeface="Inconsolata"/>
              <a:cs typeface="Inconsolata"/>
              <a:sym typeface="Inconsolata"/>
            </a:endParaRPr>
          </a:p>
        </p:txBody>
      </p:sp>
      <p:sp>
        <p:nvSpPr>
          <p:cNvPr id="150" name="Google Shape;150;p18"/>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 xml:space="preserve">Agents and Users stake SOL to vouch for Skill </a:t>
            </a:r>
            <a:r>
              <a:rPr lang="en" sz="1200">
                <a:solidFill>
                  <a:srgbClr val="D1D5DB"/>
                </a:solidFill>
                <a:latin typeface="Calibri"/>
                <a:ea typeface="Calibri"/>
                <a:cs typeface="Calibri"/>
                <a:sym typeface="Calibri"/>
              </a:rPr>
              <a:t>Authors</a:t>
            </a:r>
            <a:r>
              <a:rPr b="0" i="0" lang="en" sz="1200" u="none" cap="none" strike="noStrike">
                <a:solidFill>
                  <a:srgbClr val="D1D5DB"/>
                </a:solidFill>
                <a:latin typeface="Calibri"/>
                <a:ea typeface="Calibri"/>
                <a:cs typeface="Calibri"/>
                <a:sym typeface="Calibri"/>
              </a:rPr>
              <a:t xml:space="preserve">. Real economic </a:t>
            </a:r>
            <a:r>
              <a:rPr lang="en" sz="1200">
                <a:solidFill>
                  <a:srgbClr val="D1D5DB"/>
                </a:solidFill>
                <a:latin typeface="Calibri"/>
                <a:ea typeface="Calibri"/>
                <a:cs typeface="Calibri"/>
                <a:sym typeface="Calibri"/>
              </a:rPr>
              <a:t>alignment.</a:t>
            </a:r>
            <a:endParaRPr b="0" i="0" sz="1200" u="none" cap="none" strike="noStrike">
              <a:solidFill>
                <a:schemeClr val="dk1"/>
              </a:solidFill>
              <a:latin typeface="Calibri"/>
              <a:ea typeface="Calibri"/>
              <a:cs typeface="Calibri"/>
              <a:sym typeface="Calibri"/>
            </a:endParaRPr>
          </a:p>
        </p:txBody>
      </p:sp>
      <p:sp>
        <p:nvSpPr>
          <p:cNvPr id="151" name="Google Shape;151;p18"/>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18"/>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54" name="Google Shape;154;p18"/>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Malicious Behavior</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Slashing</a:t>
            </a:r>
            <a:endParaRPr i="0" sz="1600" u="none" cap="none" strike="noStrike">
              <a:solidFill>
                <a:schemeClr val="dk1"/>
              </a:solidFill>
              <a:latin typeface="Inconsolata"/>
              <a:ea typeface="Inconsolata"/>
              <a:cs typeface="Inconsolata"/>
              <a:sym typeface="Inconsolata"/>
            </a:endParaRPr>
          </a:p>
        </p:txBody>
      </p:sp>
      <p:sp>
        <p:nvSpPr>
          <p:cNvPr id="155" name="Google Shape;155;p18"/>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Malicious skills</a:t>
            </a:r>
            <a:r>
              <a:rPr b="0" i="0" lang="en" sz="1200" u="none" cap="none" strike="noStrike">
                <a:solidFill>
                  <a:srgbClr val="D1D5DB"/>
                </a:solidFill>
                <a:latin typeface="Calibri"/>
                <a:ea typeface="Calibri"/>
                <a:cs typeface="Calibri"/>
                <a:sym typeface="Calibri"/>
              </a:rPr>
              <a:t xml:space="preserve">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56" name="Google Shape;156;p18"/>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Trust</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Graph</a:t>
            </a:r>
            <a:endParaRPr i="0" sz="1600" u="none" cap="none" strike="noStrike">
              <a:solidFill>
                <a:schemeClr val="dk1"/>
              </a:solidFill>
              <a:latin typeface="Inconsolata"/>
              <a:ea typeface="Inconsolata"/>
              <a:cs typeface="Inconsolata"/>
              <a:sym typeface="Inconsolata"/>
            </a:endParaRPr>
          </a:p>
        </p:txBody>
      </p:sp>
      <p:sp>
        <p:nvSpPr>
          <p:cNvPr id="159" name="Google Shape;159;p18"/>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60" name="Google Shape;160;p18"/>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10 instructions  ·  6 account types</a:t>
            </a:r>
            <a:endParaRPr b="0" i="0" sz="1100" u="none" cap="none" strike="noStrike">
              <a:solidFill>
                <a:schemeClr val="dk1"/>
              </a:solidFill>
              <a:latin typeface="Calibri"/>
              <a:ea typeface="Calibri"/>
              <a:cs typeface="Calibri"/>
              <a:sym typeface="Calibri"/>
            </a:endParaRPr>
          </a:p>
        </p:txBody>
      </p:sp>
      <p:sp>
        <p:nvSpPr>
          <p:cNvPr id="161" name="Google Shape;161;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2" name="Google Shape;162;p1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4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163" name="Google Shape;163;p18" title="Group.png"/>
          <p:cNvPicPr preferRelativeResize="0"/>
          <p:nvPr/>
        </p:nvPicPr>
        <p:blipFill>
          <a:blip r:embed="rId6">
            <a:alphaModFix/>
          </a:blip>
          <a:stretch>
            <a:fillRect/>
          </a:stretch>
        </p:blipFill>
        <p:spPr>
          <a:xfrm>
            <a:off x="6309375" y="1936450"/>
            <a:ext cx="464712" cy="470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8" name="Shape 168"/>
        <p:cNvGrpSpPr/>
        <p:nvPr/>
      </p:nvGrpSpPr>
      <p:grpSpPr>
        <a:xfrm>
          <a:off x="0" y="0"/>
          <a:ext cx="0" cy="0"/>
          <a:chOff x="0" y="0"/>
          <a:chExt cx="0" cy="0"/>
        </a:xfrm>
      </p:grpSpPr>
      <p:sp>
        <p:nvSpPr>
          <p:cNvPr id="169" name="Google Shape;169;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71" name="Google Shape;171;p1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use AgentVouch</a:t>
            </a:r>
            <a:endParaRPr i="0" sz="3600" u="none" cap="none" strike="noStrike">
              <a:solidFill>
                <a:schemeClr val="dk2"/>
              </a:solidFill>
              <a:latin typeface="Inconsolata"/>
              <a:ea typeface="Inconsolata"/>
              <a:cs typeface="Inconsolata"/>
              <a:sym typeface="Inconsolata"/>
            </a:endParaRPr>
          </a:p>
        </p:txBody>
      </p:sp>
      <p:sp>
        <p:nvSpPr>
          <p:cNvPr id="172" name="Google Shape;172;p19"/>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175" name="Google Shape;175;p19"/>
          <p:cNvPicPr preferRelativeResize="0"/>
          <p:nvPr/>
        </p:nvPicPr>
        <p:blipFill rotWithShape="1">
          <a:blip r:embed="rId4">
            <a:alphaModFix/>
          </a:blip>
          <a:srcRect b="0" l="0" r="0" t="0"/>
          <a:stretch/>
        </p:blipFill>
        <p:spPr>
          <a:xfrm>
            <a:off x="1097270" y="1548455"/>
            <a:ext cx="292608" cy="292608"/>
          </a:xfrm>
          <a:prstGeom prst="rect">
            <a:avLst/>
          </a:prstGeom>
          <a:noFill/>
          <a:ln>
            <a:noFill/>
          </a:ln>
        </p:spPr>
      </p:pic>
      <p:sp>
        <p:nvSpPr>
          <p:cNvPr id="176" name="Google Shape;176;p1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Search</a:t>
            </a:r>
            <a:endParaRPr i="0" sz="1600" u="none" cap="none" strike="noStrike">
              <a:solidFill>
                <a:schemeClr val="dk1"/>
              </a:solidFill>
              <a:latin typeface="Inconsolata"/>
              <a:ea typeface="Inconsolata"/>
              <a:cs typeface="Inconsolata"/>
              <a:sym typeface="Inconsolata"/>
            </a:endParaRPr>
          </a:p>
        </p:txBody>
      </p:sp>
      <p:sp>
        <p:nvSpPr>
          <p:cNvPr id="177" name="Google Shape;177;p19"/>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Search for</a:t>
            </a:r>
            <a:r>
              <a:rPr lang="en" sz="1100">
                <a:solidFill>
                  <a:srgbClr val="D1D5DB"/>
                </a:solidFill>
                <a:latin typeface="Calibri"/>
                <a:ea typeface="Calibri"/>
                <a:cs typeface="Calibri"/>
                <a:sym typeface="Calibri"/>
              </a:rPr>
              <a:t xml:space="preserve"> a skill using the AgentVouch API, CLI, MCP, or UI dashboard.  Agents can search and download based on trust signal in seconds.</a:t>
            </a:r>
            <a:endParaRPr sz="1100">
              <a:solidFill>
                <a:schemeClr val="dk1"/>
              </a:solidFill>
              <a:latin typeface="Calibri"/>
              <a:ea typeface="Calibri"/>
              <a:cs typeface="Calibri"/>
              <a:sym typeface="Calibri"/>
            </a:endParaRPr>
          </a:p>
        </p:txBody>
      </p:sp>
      <p:sp>
        <p:nvSpPr>
          <p:cNvPr id="178" name="Google Shape;178;p19"/>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180" name="Google Shape;180;p19"/>
          <p:cNvPicPr preferRelativeResize="0"/>
          <p:nvPr/>
        </p:nvPicPr>
        <p:blipFill rotWithShape="1">
          <a:blip r:embed="rId5">
            <a:alphaModFix/>
          </a:blip>
          <a:srcRect b="0" l="0" r="0" t="0"/>
          <a:stretch/>
        </p:blipFill>
        <p:spPr>
          <a:xfrm>
            <a:off x="3699988" y="1477474"/>
            <a:ext cx="243596" cy="243575"/>
          </a:xfrm>
          <a:prstGeom prst="rect">
            <a:avLst/>
          </a:prstGeom>
          <a:noFill/>
          <a:ln>
            <a:noFill/>
          </a:ln>
        </p:spPr>
      </p:pic>
      <p:sp>
        <p:nvSpPr>
          <p:cNvPr id="181" name="Google Shape;181;p19"/>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Purchase</a:t>
            </a:r>
            <a:endParaRPr i="0" sz="1600" u="none" cap="none" strike="noStrike">
              <a:solidFill>
                <a:schemeClr val="dk1"/>
              </a:solidFill>
              <a:latin typeface="Inconsolata"/>
              <a:ea typeface="Inconsolata"/>
              <a:cs typeface="Inconsolata"/>
              <a:sym typeface="Inconsolata"/>
            </a:endParaRPr>
          </a:p>
        </p:txBody>
      </p:sp>
      <p:sp>
        <p:nvSpPr>
          <p:cNvPr id="182" name="Google Shape;182;p19"/>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Purchase a skill:</a:t>
            </a:r>
            <a:endParaRPr sz="1100">
              <a:solidFill>
                <a:srgbClr val="D1D5DB"/>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Authors and Vouchers put money on the line to ensure clean skills</a:t>
            </a:r>
            <a:endParaRPr sz="1100">
              <a:solidFill>
                <a:srgbClr val="D1D5DB"/>
              </a:solidFill>
              <a:latin typeface="Calibri"/>
              <a:ea typeface="Calibri"/>
              <a:cs typeface="Calibri"/>
              <a:sym typeface="Calibri"/>
            </a:endParaRPr>
          </a:p>
        </p:txBody>
      </p:sp>
      <p:sp>
        <p:nvSpPr>
          <p:cNvPr id="183" name="Google Shape;183;p19"/>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Reputation Score</a:t>
            </a:r>
            <a:endParaRPr i="0" sz="1200" u="none" cap="none" strike="noStrike">
              <a:solidFill>
                <a:schemeClr val="dk1"/>
              </a:solidFill>
              <a:latin typeface="Inconsolata"/>
              <a:ea typeface="Inconsolata"/>
              <a:cs typeface="Inconsolata"/>
              <a:sym typeface="Inconsolata"/>
            </a:endParaRPr>
          </a:p>
        </p:txBody>
      </p:sp>
      <p:sp>
        <p:nvSpPr>
          <p:cNvPr id="185" name="Google Shape;185;p1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 xml:space="preserve">Stored on each </a:t>
            </a:r>
            <a:r>
              <a:rPr b="1" lang="en" sz="1200">
                <a:solidFill>
                  <a:srgbClr val="F59E0B"/>
                </a:solidFill>
                <a:latin typeface="Inconsolata"/>
                <a:ea typeface="Inconsolata"/>
                <a:cs typeface="Inconsolata"/>
                <a:sym typeface="Inconsolata"/>
              </a:rPr>
              <a:t>AgentProfile</a:t>
            </a:r>
            <a:r>
              <a:rPr lang="en" sz="1200">
                <a:solidFill>
                  <a:srgbClr val="F59E0B"/>
                </a:solidFill>
                <a:latin typeface="Calibri"/>
                <a:ea typeface="Calibri"/>
                <a:cs typeface="Calibri"/>
                <a:sym typeface="Calibri"/>
              </a:rPr>
              <a:t xml:space="preserve"> and recomputed when vouches change; skills inherit trust from the author profile</a:t>
            </a:r>
            <a:endParaRPr i="0" sz="1200" u="none" cap="none" strike="noStrike">
              <a:solidFill>
                <a:schemeClr val="dk1"/>
              </a:solidFill>
              <a:latin typeface="Calibri"/>
              <a:ea typeface="Calibri"/>
              <a:cs typeface="Calibri"/>
              <a:sym typeface="Calibri"/>
            </a:endParaRPr>
          </a:p>
        </p:txBody>
      </p:sp>
      <p:sp>
        <p:nvSpPr>
          <p:cNvPr id="186" name="Google Shape;186;p1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187" name="Google Shape;187;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8" name="Google Shape;188;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5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189" name="Google Shape;189;p19"/>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191" name="Google Shape;191;p19"/>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Install</a:t>
            </a:r>
            <a:endParaRPr i="0" sz="1600" u="none" cap="none" strike="noStrike">
              <a:solidFill>
                <a:schemeClr val="dk1"/>
              </a:solidFill>
              <a:latin typeface="Inconsolata"/>
              <a:ea typeface="Inconsolata"/>
              <a:cs typeface="Inconsolata"/>
              <a:sym typeface="Inconsolata"/>
            </a:endParaRPr>
          </a:p>
        </p:txBody>
      </p:sp>
      <p:sp>
        <p:nvSpPr>
          <p:cNvPr id="192" name="Google Shape;192;p19"/>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installs skill.  Skill updates are included in the purchase</a:t>
            </a:r>
            <a:endParaRPr b="0" i="0" sz="1100" u="none" cap="none" strike="noStrike">
              <a:solidFill>
                <a:schemeClr val="dk1"/>
              </a:solidFill>
              <a:latin typeface="Calibri"/>
              <a:ea typeface="Calibri"/>
              <a:cs typeface="Calibri"/>
              <a:sym typeface="Calibri"/>
            </a:endParaRPr>
          </a:p>
        </p:txBody>
      </p:sp>
      <p:pic>
        <p:nvPicPr>
          <p:cNvPr id="193" name="Google Shape;193;p19" title="install-line (1).png"/>
          <p:cNvPicPr preferRelativeResize="0"/>
          <p:nvPr/>
        </p:nvPicPr>
        <p:blipFill>
          <a:blip r:embed="rId6">
            <a:alphaModFix/>
          </a:blip>
          <a:stretch>
            <a:fillRect/>
          </a:stretch>
        </p:blipFill>
        <p:spPr>
          <a:xfrm>
            <a:off x="6502274" y="1548450"/>
            <a:ext cx="274200" cy="274200"/>
          </a:xfrm>
          <a:prstGeom prst="rect">
            <a:avLst/>
          </a:prstGeom>
          <a:noFill/>
          <a:ln>
            <a:noFill/>
          </a:ln>
        </p:spPr>
      </p:pic>
      <p:sp>
        <p:nvSpPr>
          <p:cNvPr id="194" name="Google Shape;194;p19"/>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196" name="Google Shape;196;p19"/>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chemeClr val="lt1"/>
                </a:solidFill>
                <a:latin typeface="Inconsolata"/>
                <a:ea typeface="Inconsolata"/>
                <a:cs typeface="Inconsolata"/>
                <a:sym typeface="Inconsolata"/>
              </a:rPr>
              <a:t>Free Skill</a:t>
            </a:r>
            <a:endParaRPr i="0" sz="1600" u="none" cap="none" strike="noStrike">
              <a:solidFill>
                <a:schemeClr val="lt1"/>
              </a:solidFill>
              <a:latin typeface="Inconsolata"/>
              <a:ea typeface="Inconsolata"/>
              <a:cs typeface="Inconsolata"/>
              <a:sym typeface="Inconsolata"/>
            </a:endParaRPr>
          </a:p>
        </p:txBody>
      </p:sp>
      <p:sp>
        <p:nvSpPr>
          <p:cNvPr id="197" name="Google Shape;197;p19"/>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Some skills are free — requires an Author to put up a bond for security</a:t>
            </a:r>
            <a:endParaRPr sz="1100">
              <a:solidFill>
                <a:srgbClr val="D1D5DB"/>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t/>
            </a:r>
            <a:endParaRPr sz="1100">
              <a:solidFill>
                <a:schemeClr val="dk1"/>
              </a:solidFill>
              <a:latin typeface="Calibri"/>
              <a:ea typeface="Calibri"/>
              <a:cs typeface="Calibri"/>
              <a:sym typeface="Calibri"/>
            </a:endParaRPr>
          </a:p>
        </p:txBody>
      </p:sp>
      <p:pic>
        <p:nvPicPr>
          <p:cNvPr id="198" name="Google Shape;198;p19"/>
          <p:cNvPicPr preferRelativeResize="0"/>
          <p:nvPr/>
        </p:nvPicPr>
        <p:blipFill>
          <a:blip r:embed="rId7">
            <a:alphaModFix/>
          </a:blip>
          <a:stretch>
            <a:fillRect/>
          </a:stretch>
        </p:blipFill>
        <p:spPr>
          <a:xfrm rot="5400000">
            <a:off x="2620475" y="2283800"/>
            <a:ext cx="365700" cy="365700"/>
          </a:xfrm>
          <a:prstGeom prst="rect">
            <a:avLst/>
          </a:prstGeom>
          <a:noFill/>
          <a:ln>
            <a:noFill/>
          </a:ln>
        </p:spPr>
      </p:pic>
      <p:pic>
        <p:nvPicPr>
          <p:cNvPr id="199" name="Google Shape;199;p19"/>
          <p:cNvPicPr preferRelativeResize="0"/>
          <p:nvPr/>
        </p:nvPicPr>
        <p:blipFill>
          <a:blip r:embed="rId8">
            <a:alphaModFix/>
          </a:blip>
          <a:stretch>
            <a:fillRect/>
          </a:stretch>
        </p:blipFill>
        <p:spPr>
          <a:xfrm>
            <a:off x="5296925" y="2262062"/>
            <a:ext cx="409175" cy="409175"/>
          </a:xfrm>
          <a:prstGeom prst="rect">
            <a:avLst/>
          </a:prstGeom>
          <a:noFill/>
          <a:ln>
            <a:noFill/>
          </a:ln>
        </p:spPr>
      </p:pic>
      <p:pic>
        <p:nvPicPr>
          <p:cNvPr id="200" name="Google Shape;200;p19"/>
          <p:cNvPicPr preferRelativeResize="0"/>
          <p:nvPr/>
        </p:nvPicPr>
        <p:blipFill>
          <a:blip r:embed="rId9">
            <a:alphaModFix/>
          </a:blip>
          <a:stretch>
            <a:fillRect/>
          </a:stretch>
        </p:blipFill>
        <p:spPr>
          <a:xfrm>
            <a:off x="3661738" y="2640575"/>
            <a:ext cx="320100" cy="32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5" name="Shape 205"/>
        <p:cNvGrpSpPr/>
        <p:nvPr/>
      </p:nvGrpSpPr>
      <p:grpSpPr>
        <a:xfrm>
          <a:off x="0" y="0"/>
          <a:ext cx="0" cy="0"/>
          <a:chOff x="0" y="0"/>
          <a:chExt cx="0" cy="0"/>
        </a:xfrm>
      </p:grpSpPr>
      <p:sp>
        <p:nvSpPr>
          <p:cNvPr id="206" name="Google Shape;206;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08" name="Google Shape;208;p20"/>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Earn Money on AgentVouch</a:t>
            </a:r>
            <a:endParaRPr i="0" sz="3600" u="none" cap="none" strike="noStrike">
              <a:solidFill>
                <a:schemeClr val="dk2"/>
              </a:solidFill>
              <a:latin typeface="Inconsolata"/>
              <a:ea typeface="Inconsolata"/>
              <a:cs typeface="Inconsolata"/>
              <a:sym typeface="Inconsolata"/>
            </a:endParaRPr>
          </a:p>
        </p:txBody>
      </p:sp>
      <p:sp>
        <p:nvSpPr>
          <p:cNvPr id="209" name="Google Shape;209;p20"/>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revenue model that rewards honest vouching</a:t>
            </a:r>
            <a:endParaRPr b="0" i="0" sz="1400" u="none" cap="none" strike="noStrike">
              <a:solidFill>
                <a:srgbClr val="FD522F"/>
              </a:solidFill>
              <a:latin typeface="Calibri"/>
              <a:ea typeface="Calibri"/>
              <a:cs typeface="Calibri"/>
              <a:sym typeface="Calibri"/>
            </a:endParaRPr>
          </a:p>
        </p:txBody>
      </p:sp>
      <p:sp>
        <p:nvSpPr>
          <p:cNvPr id="210" name="Google Shape;210;p20"/>
          <p:cNvSpPr/>
          <p:nvPr/>
        </p:nvSpPr>
        <p:spPr>
          <a:xfrm>
            <a:off x="457200" y="1645924"/>
            <a:ext cx="49377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4400"/>
              <a:buFont typeface="Arial Black"/>
              <a:buNone/>
            </a:pPr>
            <a:r>
              <a:rPr b="0" i="0" lang="en" sz="4400" u="none" cap="none" strike="noStrike">
                <a:solidFill>
                  <a:srgbClr val="D9EAD3"/>
                </a:solidFill>
                <a:latin typeface="Arial Black"/>
                <a:ea typeface="Arial Black"/>
                <a:cs typeface="Arial Black"/>
                <a:sym typeface="Arial Black"/>
              </a:rPr>
              <a:t>60%</a:t>
            </a:r>
            <a:endParaRPr b="0" i="0" sz="4400" u="none" cap="none" strike="noStrike">
              <a:solidFill>
                <a:srgbClr val="D9EAD3"/>
              </a:solidFill>
              <a:latin typeface="Calibri"/>
              <a:ea typeface="Calibri"/>
              <a:cs typeface="Calibri"/>
              <a:sym typeface="Calibri"/>
            </a:endParaRPr>
          </a:p>
        </p:txBody>
      </p:sp>
      <p:sp>
        <p:nvSpPr>
          <p:cNvPr id="212" name="Google Shape;212;p20"/>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13" name="Google Shape;213;p20"/>
          <p:cNvSpPr/>
          <p:nvPr/>
        </p:nvSpPr>
        <p:spPr>
          <a:xfrm>
            <a:off x="2560325" y="1783076"/>
            <a:ext cx="2651700" cy="84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Immediate payment on every purchase. Creates incentive to build quality skills.</a:t>
            </a:r>
            <a:endParaRPr b="0" i="0" sz="1200" u="none" cap="none" strike="noStrike">
              <a:solidFill>
                <a:srgbClr val="F3F4F6"/>
              </a:solidFill>
              <a:latin typeface="Calibri"/>
              <a:ea typeface="Calibri"/>
              <a:cs typeface="Calibri"/>
              <a:sym typeface="Calibri"/>
            </a:endParaRPr>
          </a:p>
        </p:txBody>
      </p:sp>
      <p:sp>
        <p:nvSpPr>
          <p:cNvPr id="214" name="Google Shape;214;p20"/>
          <p:cNvSpPr/>
          <p:nvPr/>
        </p:nvSpPr>
        <p:spPr>
          <a:xfrm>
            <a:off x="457200" y="3200400"/>
            <a:ext cx="4937760" cy="100584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16" name="Google Shape;216;p20"/>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17" name="Google Shape;217;p20"/>
          <p:cNvSpPr/>
          <p:nvPr/>
        </p:nvSpPr>
        <p:spPr>
          <a:xfrm>
            <a:off x="2560320" y="3291840"/>
            <a:ext cx="2651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18" name="Google Shape;218;p20"/>
          <p:cNvSpPr/>
          <p:nvPr/>
        </p:nvSpPr>
        <p:spPr>
          <a:xfrm>
            <a:off x="5669280" y="1645920"/>
            <a:ext cx="3017520" cy="25603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p:nvPr/>
        </p:nvSpPr>
        <p:spPr>
          <a:xfrm>
            <a:off x="5852160" y="1737360"/>
            <a:ext cx="2651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Arial Black"/>
              <a:buNone/>
            </a:pPr>
            <a:r>
              <a:rPr i="0" lang="en" sz="1400" u="none" cap="none" strike="noStrike">
                <a:solidFill>
                  <a:srgbClr val="F59E0B"/>
                </a:solidFill>
                <a:latin typeface="Inconsolata"/>
                <a:ea typeface="Inconsolata"/>
                <a:cs typeface="Inconsolata"/>
                <a:sym typeface="Inconsolata"/>
              </a:rPr>
              <a:t>The Flywheel</a:t>
            </a:r>
            <a:endParaRPr i="0" sz="1400" u="none" cap="none" strike="noStrike">
              <a:solidFill>
                <a:schemeClr val="dk1"/>
              </a:solidFill>
              <a:latin typeface="Inconsolata"/>
              <a:ea typeface="Inconsolata"/>
              <a:cs typeface="Inconsolata"/>
              <a:sym typeface="Inconsolata"/>
            </a:endParaRPr>
          </a:p>
        </p:txBody>
      </p:sp>
      <p:sp>
        <p:nvSpPr>
          <p:cNvPr id="220" name="Google Shape;220;p20"/>
          <p:cNvSpPr/>
          <p:nvPr/>
        </p:nvSpPr>
        <p:spPr>
          <a:xfrm>
            <a:off x="5852160" y="2148840"/>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1.</a:t>
            </a:r>
            <a:endParaRPr b="0" i="0" sz="1100" u="none" cap="none" strike="noStrike">
              <a:solidFill>
                <a:schemeClr val="dk1"/>
              </a:solidFill>
              <a:latin typeface="Calibri"/>
              <a:ea typeface="Calibri"/>
              <a:cs typeface="Calibri"/>
              <a:sym typeface="Calibri"/>
            </a:endParaRPr>
          </a:p>
        </p:txBody>
      </p:sp>
      <p:sp>
        <p:nvSpPr>
          <p:cNvPr id="221" name="Google Shape;221;p20"/>
          <p:cNvSpPr/>
          <p:nvPr/>
        </p:nvSpPr>
        <p:spPr>
          <a:xfrm>
            <a:off x="6172200" y="2148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Vouchers back quality skills</a:t>
            </a:r>
            <a:endParaRPr b="0" i="0" sz="1100" u="none" cap="none" strike="noStrike">
              <a:solidFill>
                <a:schemeClr val="dk1"/>
              </a:solidFill>
              <a:latin typeface="Calibri"/>
              <a:ea typeface="Calibri"/>
              <a:cs typeface="Calibri"/>
              <a:sym typeface="Calibri"/>
            </a:endParaRPr>
          </a:p>
        </p:txBody>
      </p:sp>
      <p:sp>
        <p:nvSpPr>
          <p:cNvPr id="222" name="Google Shape;222;p20"/>
          <p:cNvSpPr/>
          <p:nvPr/>
        </p:nvSpPr>
        <p:spPr>
          <a:xfrm>
            <a:off x="5852160" y="2496312"/>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2.</a:t>
            </a:r>
            <a:endParaRPr b="0" i="0" sz="1100" u="none" cap="none" strike="noStrike">
              <a:solidFill>
                <a:schemeClr val="dk1"/>
              </a:solidFill>
              <a:latin typeface="Calibri"/>
              <a:ea typeface="Calibri"/>
              <a:cs typeface="Calibri"/>
              <a:sym typeface="Calibri"/>
            </a:endParaRPr>
          </a:p>
        </p:txBody>
      </p:sp>
      <p:sp>
        <p:nvSpPr>
          <p:cNvPr id="223" name="Google Shape;223;p20"/>
          <p:cNvSpPr/>
          <p:nvPr/>
        </p:nvSpPr>
        <p:spPr>
          <a:xfrm>
            <a:off x="6172200" y="2496312"/>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Quality skills earn revenue</a:t>
            </a:r>
            <a:endParaRPr b="0" i="0" sz="1100" u="none" cap="none" strike="noStrike">
              <a:solidFill>
                <a:schemeClr val="dk1"/>
              </a:solidFill>
              <a:latin typeface="Calibri"/>
              <a:ea typeface="Calibri"/>
              <a:cs typeface="Calibri"/>
              <a:sym typeface="Calibri"/>
            </a:endParaRPr>
          </a:p>
        </p:txBody>
      </p:sp>
      <p:sp>
        <p:nvSpPr>
          <p:cNvPr id="224" name="Google Shape;224;p20"/>
          <p:cNvSpPr/>
          <p:nvPr/>
        </p:nvSpPr>
        <p:spPr>
          <a:xfrm>
            <a:off x="5852160" y="2843784"/>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3.</a:t>
            </a:r>
            <a:endParaRPr b="0" i="0" sz="1100" u="none" cap="none" strike="noStrike">
              <a:solidFill>
                <a:schemeClr val="dk1"/>
              </a:solidFill>
              <a:latin typeface="Calibri"/>
              <a:ea typeface="Calibri"/>
              <a:cs typeface="Calibri"/>
              <a:sym typeface="Calibri"/>
            </a:endParaRPr>
          </a:p>
        </p:txBody>
      </p:sp>
      <p:sp>
        <p:nvSpPr>
          <p:cNvPr id="225" name="Google Shape;225;p20"/>
          <p:cNvSpPr/>
          <p:nvPr/>
        </p:nvSpPr>
        <p:spPr>
          <a:xfrm>
            <a:off x="6172200" y="2843784"/>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Revenue rewards vouchers</a:t>
            </a:r>
            <a:endParaRPr b="0" i="0" sz="1100" u="none" cap="none" strike="noStrike">
              <a:solidFill>
                <a:schemeClr val="dk1"/>
              </a:solidFill>
              <a:latin typeface="Calibri"/>
              <a:ea typeface="Calibri"/>
              <a:cs typeface="Calibri"/>
              <a:sym typeface="Calibri"/>
            </a:endParaRPr>
          </a:p>
        </p:txBody>
      </p:sp>
      <p:sp>
        <p:nvSpPr>
          <p:cNvPr id="226" name="Google Shape;226;p20"/>
          <p:cNvSpPr/>
          <p:nvPr/>
        </p:nvSpPr>
        <p:spPr>
          <a:xfrm>
            <a:off x="5852160" y="3191256"/>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4.</a:t>
            </a:r>
            <a:endParaRPr b="0" i="0" sz="1100" u="none" cap="none" strike="noStrike">
              <a:solidFill>
                <a:schemeClr val="dk1"/>
              </a:solidFill>
              <a:latin typeface="Calibri"/>
              <a:ea typeface="Calibri"/>
              <a:cs typeface="Calibri"/>
              <a:sym typeface="Calibri"/>
            </a:endParaRPr>
          </a:p>
        </p:txBody>
      </p:sp>
      <p:sp>
        <p:nvSpPr>
          <p:cNvPr id="227" name="Google Shape;227;p20"/>
          <p:cNvSpPr/>
          <p:nvPr/>
        </p:nvSpPr>
        <p:spPr>
          <a:xfrm>
            <a:off x="6172200" y="319125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Malicious skills get slashed, b</a:t>
            </a:r>
            <a:r>
              <a:rPr lang="en" sz="1100">
                <a:solidFill>
                  <a:srgbClr val="D1D5DB"/>
                </a:solidFill>
                <a:latin typeface="Calibri"/>
                <a:ea typeface="Calibri"/>
                <a:cs typeface="Calibri"/>
                <a:sym typeface="Calibri"/>
              </a:rPr>
              <a:t>ug hunters are rewarded</a:t>
            </a:r>
            <a:endParaRPr sz="1100">
              <a:solidFill>
                <a:srgbClr val="D1D5DB"/>
              </a:solidFill>
              <a:latin typeface="Calibri"/>
              <a:ea typeface="Calibri"/>
              <a:cs typeface="Calibri"/>
              <a:sym typeface="Calibri"/>
            </a:endParaRPr>
          </a:p>
        </p:txBody>
      </p:sp>
      <p:sp>
        <p:nvSpPr>
          <p:cNvPr id="228" name="Google Shape;228;p20"/>
          <p:cNvSpPr/>
          <p:nvPr/>
        </p:nvSpPr>
        <p:spPr>
          <a:xfrm>
            <a:off x="5852160" y="3538728"/>
            <a:ext cx="274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Arial Black"/>
              <a:buNone/>
            </a:pPr>
            <a:r>
              <a:rPr b="0" i="0" lang="en" sz="1100" u="none" cap="none" strike="noStrike">
                <a:solidFill>
                  <a:srgbClr val="F28A61"/>
                </a:solidFill>
                <a:latin typeface="Arial Black"/>
                <a:ea typeface="Arial Black"/>
                <a:cs typeface="Arial Black"/>
                <a:sym typeface="Arial Black"/>
              </a:rPr>
              <a:t>5.</a:t>
            </a:r>
            <a:endParaRPr b="0" i="0" sz="1100" u="none" cap="none" strike="noStrike">
              <a:solidFill>
                <a:schemeClr val="dk1"/>
              </a:solidFill>
              <a:latin typeface="Calibri"/>
              <a:ea typeface="Calibri"/>
              <a:cs typeface="Calibri"/>
              <a:sym typeface="Calibri"/>
            </a:endParaRPr>
          </a:p>
        </p:txBody>
      </p:sp>
      <p:sp>
        <p:nvSpPr>
          <p:cNvPr id="229" name="Google Shape;229;p20"/>
          <p:cNvSpPr/>
          <p:nvPr/>
        </p:nvSpPr>
        <p:spPr>
          <a:xfrm>
            <a:off x="6172200" y="353872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Ecosystem converges on trust</a:t>
            </a:r>
            <a:endParaRPr b="0" i="0" sz="1100" u="none" cap="none" strike="noStrike">
              <a:solidFill>
                <a:schemeClr val="dk1"/>
              </a:solidFill>
              <a:latin typeface="Calibri"/>
              <a:ea typeface="Calibri"/>
              <a:cs typeface="Calibri"/>
              <a:sym typeface="Calibri"/>
            </a:endParaRPr>
          </a:p>
        </p:txBody>
      </p:sp>
      <p:sp>
        <p:nvSpPr>
          <p:cNvPr id="230" name="Google Shape;230;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31" name="Google Shape;231;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6</a:t>
            </a:r>
            <a:r>
              <a:rPr b="0" i="0" lang="en" sz="900" u="none" cap="none" strike="noStrike">
                <a:solidFill>
                  <a:srgbClr val="6B7280"/>
                </a:solidFill>
                <a:latin typeface="Calibri"/>
                <a:ea typeface="Calibri"/>
                <a:cs typeface="Calibri"/>
                <a:sym typeface="Calibri"/>
              </a:rPr>
              <a:t xml:space="preserve">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6" name="Shape 236"/>
        <p:cNvGrpSpPr/>
        <p:nvPr/>
      </p:nvGrpSpPr>
      <p:grpSpPr>
        <a:xfrm>
          <a:off x="0" y="0"/>
          <a:ext cx="0" cy="0"/>
          <a:chOff x="0" y="0"/>
          <a:chExt cx="0" cy="0"/>
        </a:xfrm>
      </p:grpSpPr>
      <p:sp>
        <p:nvSpPr>
          <p:cNvPr id="237" name="Google Shape;237;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39" name="Google Shape;239;p21"/>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200"/>
              <a:buFont typeface="Arial Black"/>
              <a:buNone/>
            </a:pPr>
            <a:r>
              <a:rPr lang="en" sz="3200">
                <a:solidFill>
                  <a:schemeClr val="dk2"/>
                </a:solidFill>
                <a:latin typeface="Inconsolata"/>
                <a:ea typeface="Inconsolata"/>
                <a:cs typeface="Inconsolata"/>
                <a:sym typeface="Inconsolata"/>
              </a:rPr>
              <a:t>Payments</a:t>
            </a:r>
            <a:endParaRPr i="0" sz="3200" u="none" cap="none" strike="noStrike">
              <a:solidFill>
                <a:schemeClr val="dk2"/>
              </a:solidFill>
              <a:latin typeface="Inconsolata"/>
              <a:ea typeface="Inconsolata"/>
              <a:cs typeface="Inconsolata"/>
              <a:sym typeface="Inconsolata"/>
            </a:endParaRPr>
          </a:p>
        </p:txBody>
      </p:sp>
      <p:sp>
        <p:nvSpPr>
          <p:cNvPr id="240" name="Google Shape;240;p21"/>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Calibri"/>
              <a:buNone/>
            </a:pPr>
            <a:r>
              <a:rPr lang="en" sz="1300">
                <a:solidFill>
                  <a:srgbClr val="FD522F"/>
                </a:solidFill>
                <a:latin typeface="Calibri"/>
                <a:ea typeface="Calibri"/>
                <a:cs typeface="Calibri"/>
                <a:sym typeface="Calibri"/>
              </a:rPr>
              <a:t>Agents can buy listed skills on-chain natively, no human checkout needed</a:t>
            </a:r>
            <a:endParaRPr b="0" i="0" sz="1300" u="none" cap="none" strike="noStrike">
              <a:solidFill>
                <a:srgbClr val="FD522F"/>
              </a:solidFill>
              <a:latin typeface="Calibri"/>
              <a:ea typeface="Calibri"/>
              <a:cs typeface="Calibri"/>
              <a:sym typeface="Calibri"/>
            </a:endParaRPr>
          </a:p>
        </p:txBody>
      </p:sp>
      <p:sp>
        <p:nvSpPr>
          <p:cNvPr id="241" name="Google Shape;241;p21"/>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45" name="Google Shape;245;p21"/>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i="0" lang="en" sz="1300" u="none" cap="none" strike="noStrike">
                <a:solidFill>
                  <a:srgbClr val="F3F4F6"/>
                </a:solidFill>
                <a:latin typeface="Inconsolata"/>
                <a:ea typeface="Inconsolata"/>
                <a:cs typeface="Inconsolata"/>
                <a:sym typeface="Inconsolata"/>
              </a:rPr>
              <a:t>Request</a:t>
            </a:r>
            <a:endParaRPr i="0" sz="1300" u="none" cap="none" strike="noStrike">
              <a:solidFill>
                <a:schemeClr val="dk1"/>
              </a:solidFill>
              <a:latin typeface="Inconsolata"/>
              <a:ea typeface="Inconsolata"/>
              <a:cs typeface="Inconsolata"/>
              <a:sym typeface="Inconsolata"/>
            </a:endParaRPr>
          </a:p>
        </p:txBody>
      </p:sp>
      <p:sp>
        <p:nvSpPr>
          <p:cNvPr id="246" name="Google Shape;246;p21"/>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47" name="Google Shape;247;p21"/>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51" name="Google Shape;251;p21"/>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i="0" lang="en" sz="1300" u="none" cap="none" strike="noStrike">
                <a:solidFill>
                  <a:srgbClr val="F3F4F6"/>
                </a:solidFill>
                <a:latin typeface="Inconsolata"/>
                <a:ea typeface="Inconsolata"/>
                <a:cs typeface="Inconsolata"/>
                <a:sym typeface="Inconsolata"/>
              </a:rPr>
              <a:t>402 Response</a:t>
            </a:r>
            <a:endParaRPr i="0" sz="1300" u="none" cap="none" strike="noStrike">
              <a:solidFill>
                <a:schemeClr val="dk1"/>
              </a:solidFill>
              <a:latin typeface="Inconsolata"/>
              <a:ea typeface="Inconsolata"/>
              <a:cs typeface="Inconsolata"/>
              <a:sym typeface="Inconsolata"/>
            </a:endParaRPr>
          </a:p>
        </p:txBody>
      </p:sp>
      <p:sp>
        <p:nvSpPr>
          <p:cNvPr id="252" name="Google Shape;252;p21"/>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PaymentRequirement</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a:t>
            </a:r>
            <a:r>
              <a:rPr lang="en" sz="700">
                <a:solidFill>
                  <a:srgbClr val="D1D5DB"/>
                </a:solidFill>
                <a:latin typeface="Consolas"/>
                <a:ea typeface="Consolas"/>
                <a:cs typeface="Consolas"/>
                <a:sym typeface="Consolas"/>
              </a:rPr>
              <a:t>recipient</a:t>
            </a:r>
            <a:r>
              <a:rPr b="0" i="0" lang="en" sz="700" u="none" cap="none" strike="noStrike">
                <a:solidFill>
                  <a:srgbClr val="D1D5DB"/>
                </a:solidFill>
                <a:latin typeface="Consolas"/>
                <a:ea typeface="Consolas"/>
                <a:cs typeface="Consolas"/>
                <a:sym typeface="Consolas"/>
              </a:rPr>
              <a:t>, amount}</a:t>
            </a:r>
            <a:endParaRPr b="0" i="0" sz="700" u="none" cap="none" strike="noStrike">
              <a:solidFill>
                <a:schemeClr val="dk1"/>
              </a:solidFill>
              <a:latin typeface="Calibri"/>
              <a:ea typeface="Calibri"/>
              <a:cs typeface="Calibri"/>
              <a:sym typeface="Calibri"/>
            </a:endParaRPr>
          </a:p>
        </p:txBody>
      </p:sp>
      <p:sp>
        <p:nvSpPr>
          <p:cNvPr id="253" name="Google Shape;253;p21"/>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xml:space="preserve">   </a:t>
            </a:r>
            <a:endParaRPr/>
          </a:p>
        </p:txBody>
      </p:sp>
      <p:sp>
        <p:nvSpPr>
          <p:cNvPr id="255" name="Google Shape;255;p21"/>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1"/>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57" name="Google Shape;257;p21"/>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Purchase</a:t>
            </a:r>
            <a:endParaRPr i="0" sz="1300" u="none" cap="none" strike="noStrike">
              <a:solidFill>
                <a:schemeClr val="dk1"/>
              </a:solidFill>
              <a:latin typeface="Inconsolata"/>
              <a:ea typeface="Inconsolata"/>
              <a:cs typeface="Inconsolata"/>
              <a:sym typeface="Inconsolata"/>
            </a:endParaRPr>
          </a:p>
        </p:txBody>
      </p:sp>
      <p:sp>
        <p:nvSpPr>
          <p:cNvPr id="258" name="Google Shape;258;p21"/>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purchaseSkill tx</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59" name="Google Shape;259;p21"/>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63" name="Google Shape;263;p21"/>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Retry</a:t>
            </a:r>
            <a:endParaRPr i="0" sz="1300" u="none" cap="none" strike="noStrike">
              <a:solidFill>
                <a:schemeClr val="dk1"/>
              </a:solidFill>
              <a:latin typeface="Inconsolata"/>
              <a:ea typeface="Inconsolata"/>
              <a:cs typeface="Inconsolata"/>
              <a:sym typeface="Inconsolata"/>
            </a:endParaRPr>
          </a:p>
        </p:txBody>
      </p:sp>
      <p:sp>
        <p:nvSpPr>
          <p:cNvPr id="264" name="Google Shape;264;p21"/>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X-Payment-Proof header</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txSig)</a:t>
            </a:r>
            <a:endParaRPr b="0" i="0" sz="700" u="none" cap="none" strike="noStrike">
              <a:solidFill>
                <a:schemeClr val="dk1"/>
              </a:solidFill>
              <a:latin typeface="Calibri"/>
              <a:ea typeface="Calibri"/>
              <a:cs typeface="Calibri"/>
              <a:sym typeface="Calibri"/>
            </a:endParaRPr>
          </a:p>
        </p:txBody>
      </p:sp>
      <p:sp>
        <p:nvSpPr>
          <p:cNvPr id="265" name="Google Shape;265;p21"/>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1"/>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1"/>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69" name="Google Shape;269;p21"/>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Delivery</a:t>
            </a:r>
            <a:endParaRPr i="0" sz="1300" u="none" cap="none" strike="noStrike">
              <a:solidFill>
                <a:schemeClr val="dk1"/>
              </a:solidFill>
              <a:latin typeface="Inconsolata"/>
              <a:ea typeface="Inconsolata"/>
              <a:cs typeface="Inconsolata"/>
              <a:sym typeface="Inconsolata"/>
            </a:endParaRPr>
          </a:p>
        </p:txBody>
      </p:sp>
      <p:sp>
        <p:nvSpPr>
          <p:cNvPr id="270" name="Google Shape;270;p21"/>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 xml:space="preserve">Purchase PDA verified </a:t>
            </a:r>
            <a:endParaRPr b="0" i="0" sz="700" u="none" cap="none" strike="noStrike">
              <a:solidFill>
                <a:schemeClr val="dk1"/>
              </a:solidFill>
              <a:latin typeface="Calibri"/>
              <a:ea typeface="Calibri"/>
              <a:cs typeface="Calibri"/>
              <a:sym typeface="Calibri"/>
            </a:endParaRPr>
          </a:p>
        </p:txBody>
      </p:sp>
      <p:sp>
        <p:nvSpPr>
          <p:cNvPr id="271" name="Google Shape;271;p21"/>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21"/>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73" name="Google Shape;273;p21"/>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For listed paid skills, the raw endpoint can require an on-chain purchase.</a:t>
            </a:r>
            <a:endParaRPr>
              <a:solidFill>
                <a:srgbClr val="F3F4F6"/>
              </a:solidFill>
              <a:latin typeface="Inconsolata"/>
              <a:ea typeface="Inconsolata"/>
              <a:cs typeface="Inconsolata"/>
              <a:sym typeface="Inconsolata"/>
            </a:endParaRPr>
          </a:p>
        </p:txBody>
      </p:sp>
      <p:sp>
        <p:nvSpPr>
          <p:cNvPr id="274" name="Google Shape;274;p21"/>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275" name="Google Shape;27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76" name="Google Shape;27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7</a:t>
            </a:r>
            <a:r>
              <a:rPr b="0" i="0" lang="en" sz="900" u="none" cap="none" strike="noStrike">
                <a:solidFill>
                  <a:srgbClr val="6B7280"/>
                </a:solidFill>
                <a:latin typeface="Calibri"/>
                <a:ea typeface="Calibri"/>
                <a:cs typeface="Calibri"/>
                <a:sym typeface="Calibri"/>
              </a:rPr>
              <a:t xml:space="preserve"> / </a:t>
            </a:r>
            <a:r>
              <a:rPr lang="en" sz="900">
                <a:solidFill>
                  <a:srgbClr val="6B7280"/>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descr="preencoded.png" id="277" name="Google Shape;277;p21"/>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278" name="Google Shape;278;p21"/>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279" name="Google Shape;279;p21"/>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280" name="Google Shape;280;p21"/>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281" name="Google Shape;281;p21"/>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1"/>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Do I need to fund my agent first?</a:t>
            </a:r>
            <a:endParaRPr i="0" sz="1300" u="none" cap="none" strike="noStrike">
              <a:solidFill>
                <a:schemeClr val="dk1"/>
              </a:solidFill>
              <a:latin typeface="Inconsolata"/>
              <a:ea typeface="Inconsolata"/>
              <a:cs typeface="Inconsolata"/>
              <a:sym typeface="Inconsolata"/>
            </a:endParaRPr>
          </a:p>
        </p:txBody>
      </p:sp>
      <p:sp>
        <p:nvSpPr>
          <p:cNvPr id="284" name="Google Shape;284;p21"/>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lang="en" sz="700">
                <a:solidFill>
                  <a:srgbClr val="D1D5DB"/>
                </a:solidFill>
                <a:latin typeface="Consolas"/>
                <a:ea typeface="Consolas"/>
                <a:cs typeface="Consolas"/>
                <a:sym typeface="Consolas"/>
              </a:rPr>
              <a:t>Yes. The buyer agent needs a funded Solana wallet. Just ask your agent to create a Solana wallet and send it funds.</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p:txBody>
      </p:sp>
      <p:sp>
        <p:nvSpPr>
          <p:cNvPr id="285" name="Google Shape;285;p21"/>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1"/>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1"/>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300"/>
              <a:buFont typeface="Arial Black"/>
              <a:buNone/>
            </a:pPr>
            <a:r>
              <a:rPr lang="en" sz="1300">
                <a:solidFill>
                  <a:srgbClr val="F3F4F6"/>
                </a:solidFill>
                <a:latin typeface="Inconsolata"/>
                <a:ea typeface="Inconsolata"/>
                <a:cs typeface="Inconsolata"/>
                <a:sym typeface="Inconsolata"/>
              </a:rPr>
              <a:t>Can I connect a bank account?</a:t>
            </a:r>
            <a:endParaRPr sz="1300">
              <a:solidFill>
                <a:srgbClr val="F3F4F6"/>
              </a:solidFill>
              <a:latin typeface="Inconsolata"/>
              <a:ea typeface="Inconsolata"/>
              <a:cs typeface="Inconsolata"/>
              <a:sym typeface="Inconsolata"/>
            </a:endParaRPr>
          </a:p>
          <a:p>
            <a:pPr indent="0" lvl="0" marL="0" marR="0" rtl="0" algn="l">
              <a:spcBef>
                <a:spcPts val="0"/>
              </a:spcBef>
              <a:spcAft>
                <a:spcPts val="0"/>
              </a:spcAft>
              <a:buClr>
                <a:srgbClr val="F3F4F6"/>
              </a:buClr>
              <a:buSzPts val="1300"/>
              <a:buFont typeface="Arial Black"/>
              <a:buNone/>
            </a:pPr>
            <a:r>
              <a:t/>
            </a:r>
            <a:endParaRPr sz="1300">
              <a:solidFill>
                <a:srgbClr val="F3F4F6"/>
              </a:solidFill>
              <a:latin typeface="Inconsolata"/>
              <a:ea typeface="Inconsolata"/>
              <a:cs typeface="Inconsolata"/>
              <a:sym typeface="Inconsolata"/>
            </a:endParaRPr>
          </a:p>
        </p:txBody>
      </p:sp>
      <p:sp>
        <p:nvSpPr>
          <p:cNvPr id="288" name="Google Shape;288;p21"/>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lang="en" sz="700">
                <a:solidFill>
                  <a:srgbClr val="D1D5DB"/>
                </a:solidFill>
                <a:latin typeface="Consolas"/>
                <a:ea typeface="Consolas"/>
                <a:cs typeface="Consolas"/>
                <a:sym typeface="Consolas"/>
              </a:rPr>
              <a:t>Not today. This version uses wallet funding, not fiat rails</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a:p>
            <a:pPr indent="0" lvl="0" marL="0" marR="0" rtl="0" algn="l">
              <a:spcBef>
                <a:spcPts val="0"/>
              </a:spcBef>
              <a:spcAft>
                <a:spcPts val="0"/>
              </a:spcAft>
              <a:buClr>
                <a:srgbClr val="D1D5DB"/>
              </a:buClr>
              <a:buSzPts val="1000"/>
              <a:buFont typeface="Consolas"/>
              <a:buNone/>
            </a:pPr>
            <a:r>
              <a:t/>
            </a:r>
            <a:endParaRPr sz="700">
              <a:solidFill>
                <a:srgbClr val="D1D5DB"/>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sp>
        <p:nvSpPr>
          <p:cNvPr id="294" name="Google Shape;294;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4400"/>
              <a:buFont typeface="Arial Black"/>
              <a:buNone/>
            </a:pPr>
            <a:r>
              <a:rPr i="0" lang="en" sz="4400" u="none" cap="none" strike="noStrike">
                <a:solidFill>
                  <a:schemeClr val="dk2"/>
                </a:solidFill>
                <a:latin typeface="Inconsolata"/>
                <a:ea typeface="Inconsolata"/>
                <a:cs typeface="Inconsolata"/>
                <a:sym typeface="Inconsolata"/>
              </a:rPr>
              <a:t>Live Demo</a:t>
            </a:r>
            <a:endParaRPr i="0" sz="4400" u="none" cap="none" strike="noStrike">
              <a:solidFill>
                <a:schemeClr val="dk2"/>
              </a:solidFill>
              <a:latin typeface="Inconsolata"/>
              <a:ea typeface="Inconsolata"/>
              <a:cs typeface="Inconsolata"/>
              <a:sym typeface="Inconsolata"/>
            </a:endParaRPr>
          </a:p>
        </p:txBody>
      </p:sp>
      <p:sp>
        <p:nvSpPr>
          <p:cNvPr id="297" name="Google Shape;297;p22"/>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600"/>
              <a:buFont typeface="Calibri"/>
              <a:buNone/>
            </a:pPr>
            <a:r>
              <a:rPr b="0" i="0" lang="en" sz="1600" u="none" cap="none" strike="noStrike">
                <a:solidFill>
                  <a:srgbClr val="FD522F"/>
                </a:solidFill>
                <a:latin typeface="Calibri"/>
                <a:ea typeface="Calibri"/>
                <a:cs typeface="Calibri"/>
                <a:sym typeface="Calibri"/>
              </a:rPr>
              <a:t>Watch an agent get vouched, disputed, and slashed on-chain in real-time</a:t>
            </a:r>
            <a:endParaRPr b="0" i="0" sz="1600" u="none" cap="none" strike="noStrike">
              <a:solidFill>
                <a:srgbClr val="FD522F"/>
              </a:solidFill>
              <a:latin typeface="Calibri"/>
              <a:ea typeface="Calibri"/>
              <a:cs typeface="Calibri"/>
              <a:sym typeface="Calibri"/>
            </a:endParaRPr>
          </a:p>
        </p:txBody>
      </p:sp>
      <p:sp>
        <p:nvSpPr>
          <p:cNvPr id="298" name="Google Shape;298;p22"/>
          <p:cNvSpPr/>
          <p:nvPr/>
        </p:nvSpPr>
        <p:spPr>
          <a:xfrm>
            <a:off x="45720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22"/>
          <p:cNvPicPr preferRelativeResize="0"/>
          <p:nvPr/>
        </p:nvPicPr>
        <p:blipFill rotWithShape="1">
          <a:blip r:embed="rId3">
            <a:alphaModFix/>
          </a:blip>
          <a:srcRect b="0" l="0" r="0" t="0"/>
          <a:stretch/>
        </p:blipFill>
        <p:spPr>
          <a:xfrm>
            <a:off x="594360" y="2057400"/>
            <a:ext cx="365760" cy="365760"/>
          </a:xfrm>
          <a:prstGeom prst="rect">
            <a:avLst/>
          </a:prstGeom>
          <a:noFill/>
          <a:ln>
            <a:noFill/>
          </a:ln>
        </p:spPr>
      </p:pic>
      <p:sp>
        <p:nvSpPr>
          <p:cNvPr id="300" name="Google Shape;300;p22"/>
          <p:cNvSpPr/>
          <p:nvPr/>
        </p:nvSpPr>
        <p:spPr>
          <a:xfrm>
            <a:off x="59436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Register Agent</a:t>
            </a:r>
            <a:endParaRPr i="0" sz="1400" u="none" cap="none" strike="noStrike">
              <a:solidFill>
                <a:schemeClr val="dk1"/>
              </a:solidFill>
              <a:latin typeface="Inconsolata"/>
              <a:ea typeface="Inconsolata"/>
              <a:cs typeface="Inconsolata"/>
              <a:sym typeface="Inconsolata"/>
            </a:endParaRPr>
          </a:p>
        </p:txBody>
      </p:sp>
      <p:sp>
        <p:nvSpPr>
          <p:cNvPr id="301" name="Google Shape;301;p22"/>
          <p:cNvSpPr/>
          <p:nvPr/>
        </p:nvSpPr>
        <p:spPr>
          <a:xfrm>
            <a:off x="59436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Create on-chain profile with wallet</a:t>
            </a:r>
            <a:endParaRPr b="0" i="0" sz="1100" u="none" cap="none" strike="noStrike">
              <a:solidFill>
                <a:schemeClr val="dk1"/>
              </a:solidFill>
              <a:latin typeface="Calibri"/>
              <a:ea typeface="Calibri"/>
              <a:cs typeface="Calibri"/>
              <a:sym typeface="Calibri"/>
            </a:endParaRPr>
          </a:p>
        </p:txBody>
      </p:sp>
      <p:sp>
        <p:nvSpPr>
          <p:cNvPr id="302" name="Google Shape;302;p22"/>
          <p:cNvSpPr/>
          <p:nvPr/>
        </p:nvSpPr>
        <p:spPr>
          <a:xfrm>
            <a:off x="260604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3" name="Google Shape;303;p22"/>
          <p:cNvPicPr preferRelativeResize="0"/>
          <p:nvPr/>
        </p:nvPicPr>
        <p:blipFill rotWithShape="1">
          <a:blip r:embed="rId4">
            <a:alphaModFix/>
          </a:blip>
          <a:srcRect b="0" l="0" r="0" t="0"/>
          <a:stretch/>
        </p:blipFill>
        <p:spPr>
          <a:xfrm>
            <a:off x="2743200" y="2057400"/>
            <a:ext cx="365760" cy="365760"/>
          </a:xfrm>
          <a:prstGeom prst="rect">
            <a:avLst/>
          </a:prstGeom>
          <a:noFill/>
          <a:ln>
            <a:noFill/>
          </a:ln>
        </p:spPr>
      </p:pic>
      <p:sp>
        <p:nvSpPr>
          <p:cNvPr id="304" name="Google Shape;304;p22"/>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Stake &amp; Vouch</a:t>
            </a:r>
            <a:endParaRPr i="0" sz="1400" u="none" cap="none" strike="noStrike">
              <a:solidFill>
                <a:schemeClr val="dk1"/>
              </a:solidFill>
              <a:latin typeface="Inconsolata"/>
              <a:ea typeface="Inconsolata"/>
              <a:cs typeface="Inconsolata"/>
              <a:sym typeface="Inconsolata"/>
            </a:endParaRPr>
          </a:p>
        </p:txBody>
      </p:sp>
      <p:sp>
        <p:nvSpPr>
          <p:cNvPr id="305" name="Google Shape;305;p22"/>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Vouch for an author with devnet SOL</a:t>
            </a:r>
            <a:endParaRPr b="0" i="0" sz="1100" u="none" cap="none" strike="noStrike">
              <a:solidFill>
                <a:schemeClr val="dk1"/>
              </a:solidFill>
              <a:latin typeface="Calibri"/>
              <a:ea typeface="Calibri"/>
              <a:cs typeface="Calibri"/>
              <a:sym typeface="Calibri"/>
            </a:endParaRPr>
          </a:p>
        </p:txBody>
      </p:sp>
      <p:sp>
        <p:nvSpPr>
          <p:cNvPr id="306" name="Google Shape;306;p22"/>
          <p:cNvSpPr/>
          <p:nvPr/>
        </p:nvSpPr>
        <p:spPr>
          <a:xfrm>
            <a:off x="475488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7" name="Google Shape;307;p22"/>
          <p:cNvPicPr preferRelativeResize="0"/>
          <p:nvPr/>
        </p:nvPicPr>
        <p:blipFill rotWithShape="1">
          <a:blip r:embed="rId5">
            <a:alphaModFix/>
          </a:blip>
          <a:srcRect b="0" l="0" r="0" t="0"/>
          <a:stretch/>
        </p:blipFill>
        <p:spPr>
          <a:xfrm>
            <a:off x="4892040" y="2057400"/>
            <a:ext cx="365760" cy="365760"/>
          </a:xfrm>
          <a:prstGeom prst="rect">
            <a:avLst/>
          </a:prstGeom>
          <a:noFill/>
          <a:ln>
            <a:noFill/>
          </a:ln>
        </p:spPr>
      </p:pic>
      <p:sp>
        <p:nvSpPr>
          <p:cNvPr id="308" name="Google Shape;308;p22"/>
          <p:cNvSpPr/>
          <p:nvPr/>
        </p:nvSpPr>
        <p:spPr>
          <a:xfrm>
            <a:off x="489204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File a Claim</a:t>
            </a:r>
            <a:endParaRPr i="0" sz="14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489204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Challenge the vouch with evidence</a:t>
            </a:r>
            <a:endParaRPr b="0" i="0" sz="1100" u="none" cap="none" strike="noStrike">
              <a:solidFill>
                <a:schemeClr val="dk1"/>
              </a:solidFill>
              <a:latin typeface="Calibri"/>
              <a:ea typeface="Calibri"/>
              <a:cs typeface="Calibri"/>
              <a:sym typeface="Calibri"/>
            </a:endParaRPr>
          </a:p>
        </p:txBody>
      </p:sp>
      <p:sp>
        <p:nvSpPr>
          <p:cNvPr id="310" name="Google Shape;310;p22"/>
          <p:cNvSpPr/>
          <p:nvPr/>
        </p:nvSpPr>
        <p:spPr>
          <a:xfrm>
            <a:off x="690372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22"/>
          <p:cNvPicPr preferRelativeResize="0"/>
          <p:nvPr/>
        </p:nvPicPr>
        <p:blipFill rotWithShape="1">
          <a:blip r:embed="rId6">
            <a:alphaModFix/>
          </a:blip>
          <a:srcRect b="0" l="0" r="0" t="0"/>
          <a:stretch/>
        </p:blipFill>
        <p:spPr>
          <a:xfrm>
            <a:off x="7040880" y="2057400"/>
            <a:ext cx="365760" cy="365760"/>
          </a:xfrm>
          <a:prstGeom prst="rect">
            <a:avLst/>
          </a:prstGeom>
          <a:noFill/>
          <a:ln>
            <a:noFill/>
          </a:ln>
        </p:spPr>
      </p:pic>
      <p:sp>
        <p:nvSpPr>
          <p:cNvPr id="312" name="Google Shape;312;p22"/>
          <p:cNvSpPr/>
          <p:nvPr/>
        </p:nvSpPr>
        <p:spPr>
          <a:xfrm>
            <a:off x="7040880" y="2514600"/>
            <a:ext cx="1645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i="0" lang="en" sz="1400" u="none" cap="none" strike="noStrike">
                <a:solidFill>
                  <a:srgbClr val="F3F4F6"/>
                </a:solidFill>
                <a:latin typeface="Inconsolata"/>
                <a:ea typeface="Inconsolata"/>
                <a:cs typeface="Inconsolata"/>
                <a:sym typeface="Inconsolata"/>
              </a:rPr>
              <a:t>Slash</a:t>
            </a:r>
            <a:endParaRPr i="0" sz="1400" u="none" cap="none" strike="noStrike">
              <a:solidFill>
                <a:schemeClr val="dk1"/>
              </a:solidFill>
              <a:latin typeface="Inconsolata"/>
              <a:ea typeface="Inconsolata"/>
              <a:cs typeface="Inconsolata"/>
              <a:sym typeface="Inconsolata"/>
            </a:endParaRPr>
          </a:p>
        </p:txBody>
      </p:sp>
      <p:sp>
        <p:nvSpPr>
          <p:cNvPr id="313" name="Google Shape;313;p22"/>
          <p:cNvSpPr/>
          <p:nvPr/>
        </p:nvSpPr>
        <p:spPr>
          <a:xfrm>
            <a:off x="7040880" y="2880360"/>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Resolve dispute — voucher</a:t>
            </a:r>
            <a:r>
              <a:rPr lang="en" sz="1100">
                <a:solidFill>
                  <a:srgbClr val="D1D5DB"/>
                </a:solidFill>
                <a:latin typeface="Calibri"/>
                <a:ea typeface="Calibri"/>
                <a:cs typeface="Calibri"/>
                <a:sym typeface="Calibri"/>
              </a:rPr>
              <a:t xml:space="preserve"> </a:t>
            </a:r>
            <a:r>
              <a:rPr b="0" i="0" lang="en" sz="1100" u="none" cap="none" strike="noStrike">
                <a:solidFill>
                  <a:srgbClr val="D1D5DB"/>
                </a:solidFill>
                <a:latin typeface="Calibri"/>
                <a:ea typeface="Calibri"/>
                <a:cs typeface="Calibri"/>
                <a:sym typeface="Calibri"/>
              </a:rPr>
              <a:t>stake gets slashed</a:t>
            </a:r>
            <a:endParaRPr sz="1100">
              <a:solidFill>
                <a:srgbClr val="D1D5DB"/>
              </a:solidFill>
              <a:latin typeface="Calibri"/>
              <a:ea typeface="Calibri"/>
              <a:cs typeface="Calibri"/>
              <a:sym typeface="Calibri"/>
            </a:endParaRPr>
          </a:p>
        </p:txBody>
      </p:sp>
      <p:sp>
        <p:nvSpPr>
          <p:cNvPr id="314" name="Google Shape;314;p22"/>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8A61"/>
              </a:buClr>
              <a:buSzPts val="2000"/>
              <a:buFont typeface="Consolas"/>
              <a:buNone/>
            </a:pPr>
            <a:r>
              <a:rPr lang="en" sz="2000" u="sng">
                <a:solidFill>
                  <a:schemeClr val="hlink"/>
                </a:solidFill>
                <a:latin typeface="Consolas"/>
                <a:ea typeface="Consolas"/>
                <a:cs typeface="Consolas"/>
                <a:sym typeface="Consolas"/>
                <a:hlinkClick r:id="rId7"/>
              </a:rPr>
              <a:t>agentvouch.xyz</a:t>
            </a:r>
            <a:endParaRPr b="0" i="0" sz="2000" u="none" cap="none" strike="noStrike">
              <a:solidFill>
                <a:schemeClr val="dk1"/>
              </a:solidFill>
              <a:latin typeface="Calibri"/>
              <a:ea typeface="Calibri"/>
              <a:cs typeface="Calibri"/>
              <a:sym typeface="Calibri"/>
            </a:endParaRPr>
          </a:p>
        </p:txBody>
      </p:sp>
      <p:sp>
        <p:nvSpPr>
          <p:cNvPr id="315" name="Google Shape;315;p22"/>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ELmVnLSNuwNca4PfPqeqNowoUF8aDdtfto3rF9d89wf</a:t>
            </a:r>
            <a:endParaRPr b="0" i="0" sz="800" u="none" cap="none" strike="noStrike">
              <a:solidFill>
                <a:schemeClr val="dk1"/>
              </a:solidFill>
              <a:latin typeface="Calibri"/>
              <a:ea typeface="Calibri"/>
              <a:cs typeface="Calibri"/>
              <a:sym typeface="Calibri"/>
            </a:endParaRPr>
          </a:p>
        </p:txBody>
      </p:sp>
      <p:sp>
        <p:nvSpPr>
          <p:cNvPr id="316" name="Google Shape;316;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17" name="Google Shape;317;p22"/>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22" name="Shape 322"/>
        <p:cNvGrpSpPr/>
        <p:nvPr/>
      </p:nvGrpSpPr>
      <p:grpSpPr>
        <a:xfrm>
          <a:off x="0" y="0"/>
          <a:ext cx="0" cy="0"/>
          <a:chOff x="0" y="0"/>
          <a:chExt cx="0" cy="0"/>
        </a:xfrm>
      </p:grpSpPr>
      <p:sp>
        <p:nvSpPr>
          <p:cNvPr id="323" name="Google Shape;323;p23"/>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000"/>
              <a:buFont typeface="Arial Black"/>
              <a:buNone/>
            </a:pPr>
            <a:r>
              <a:rPr lang="en" sz="3000">
                <a:solidFill>
                  <a:schemeClr val="dk2"/>
                </a:solidFill>
                <a:latin typeface="Inconsolata"/>
                <a:ea typeface="Inconsolata"/>
                <a:cs typeface="Inconsolata"/>
                <a:sym typeface="Inconsolata"/>
              </a:rPr>
              <a:t>Trust</a:t>
            </a:r>
            <a:r>
              <a:rPr i="0" lang="en" sz="3000" u="none" cap="none" strike="noStrike">
                <a:solidFill>
                  <a:schemeClr val="dk2"/>
                </a:solidFill>
                <a:latin typeface="Inconsolata"/>
                <a:ea typeface="Inconsolata"/>
                <a:cs typeface="Inconsolata"/>
                <a:sym typeface="Inconsolata"/>
              </a:rPr>
              <a:t xml:space="preserve"> infrastructure isn't optional</a:t>
            </a:r>
            <a:r>
              <a:rPr lang="en" sz="3000">
                <a:solidFill>
                  <a:schemeClr val="dk2"/>
                </a:solidFill>
                <a:latin typeface="Inconsolata"/>
                <a:ea typeface="Inconsolata"/>
                <a:cs typeface="Inconsolata"/>
                <a:sym typeface="Inconsolata"/>
              </a:rPr>
              <a:t>…</a:t>
            </a:r>
            <a:endParaRPr i="0" sz="3000" u="none" cap="none" strike="noStrike">
              <a:solidFill>
                <a:schemeClr val="dk2"/>
              </a:solidFill>
              <a:latin typeface="Inconsolata"/>
              <a:ea typeface="Inconsolata"/>
              <a:cs typeface="Inconsolata"/>
              <a:sym typeface="Inconsolata"/>
            </a:endParaRPr>
          </a:p>
        </p:txBody>
      </p:sp>
      <p:sp>
        <p:nvSpPr>
          <p:cNvPr id="326" name="Google Shape;326;p23"/>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2800"/>
              <a:buFont typeface="Arial Black"/>
              <a:buNone/>
            </a:pPr>
            <a:r>
              <a:rPr lang="en" sz="2200">
                <a:solidFill>
                  <a:srgbClr val="F28A61"/>
                </a:solidFill>
                <a:latin typeface="Inconsolata"/>
                <a:ea typeface="Inconsolata"/>
                <a:cs typeface="Inconsolata"/>
                <a:sym typeface="Inconsolata"/>
              </a:rPr>
              <a:t>It’s an</a:t>
            </a:r>
            <a:r>
              <a:rPr i="0" lang="en" sz="2200" u="none" cap="none" strike="noStrike">
                <a:solidFill>
                  <a:srgbClr val="F28A61"/>
                </a:solidFill>
                <a:latin typeface="Inconsolata"/>
                <a:ea typeface="Inconsolata"/>
                <a:cs typeface="Inconsolata"/>
                <a:sym typeface="Inconsolata"/>
              </a:rPr>
              <a:t xml:space="preserve"> immune system </a:t>
            </a:r>
            <a:r>
              <a:rPr lang="en" sz="2200">
                <a:solidFill>
                  <a:srgbClr val="F28A61"/>
                </a:solidFill>
                <a:latin typeface="Inconsolata"/>
                <a:ea typeface="Inconsolata"/>
                <a:cs typeface="Inconsolata"/>
                <a:sym typeface="Inconsolata"/>
              </a:rPr>
              <a:t>for</a:t>
            </a:r>
            <a:r>
              <a:rPr i="0" lang="en" sz="2200" u="none" cap="none" strike="noStrike">
                <a:solidFill>
                  <a:srgbClr val="F28A61"/>
                </a:solidFill>
                <a:latin typeface="Inconsolata"/>
                <a:ea typeface="Inconsolata"/>
                <a:cs typeface="Inconsolata"/>
                <a:sym typeface="Inconsolata"/>
              </a:rPr>
              <a:t xml:space="preserve"> the agent economy.</a:t>
            </a:r>
            <a:endParaRPr i="0" sz="22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 xml:space="preserve">Get free devnet SOL: </a:t>
            </a:r>
            <a:r>
              <a:rPr b="0" i="0" lang="en" sz="1400" u="sng" cap="none" strike="noStrike">
                <a:solidFill>
                  <a:schemeClr val="hlink"/>
                </a:solidFill>
                <a:latin typeface="Calibri"/>
                <a:ea typeface="Calibri"/>
                <a:cs typeface="Calibri"/>
                <a:sym typeface="Calibri"/>
                <a:hlinkClick r:id="rId3"/>
              </a:rPr>
              <a:t>faucet.solana.com</a:t>
            </a:r>
            <a:r>
              <a:rPr lang="en">
                <a:solidFill>
                  <a:schemeClr val="dk2"/>
                </a:solidFill>
                <a:latin typeface="Calibri"/>
                <a:ea typeface="Calibri"/>
                <a:cs typeface="Calibri"/>
                <a:sym typeface="Calibri"/>
              </a:rPr>
              <a:t xml:space="preserve"> or just ask me and I’ll send you some</a:t>
            </a:r>
            <a:endParaRPr b="0" i="0" sz="1400" u="none" cap="none" strike="noStrike">
              <a:solidFill>
                <a:schemeClr val="dk2"/>
              </a:solidFill>
              <a:latin typeface="Calibri"/>
              <a:ea typeface="Calibri"/>
              <a:cs typeface="Calibri"/>
              <a:sym typeface="Calibri"/>
            </a:endParaRPr>
          </a:p>
        </p:txBody>
      </p:sp>
      <p:sp>
        <p:nvSpPr>
          <p:cNvPr id="328" name="Google Shape;328;p23"/>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t>
            </a:r>
            <a:r>
              <a:rPr lang="en" sz="1100">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330" name="Google Shape;330;p23"/>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a:t>
            </a:r>
            <a:r>
              <a:rPr lang="en">
                <a:solidFill>
                  <a:srgbClr val="F3F4F6"/>
                </a:solidFill>
                <a:latin typeface="Arial Black"/>
                <a:ea typeface="Arial Black"/>
                <a:cs typeface="Arial Black"/>
                <a:sym typeface="Arial Black"/>
              </a:rPr>
              <a:t>dirtybits)</a:t>
            </a:r>
            <a:r>
              <a:rPr b="0" i="0" lang="en" sz="1400" u="none" cap="none" strike="noStrike">
                <a:solidFill>
                  <a:srgbClr val="F3F4F6"/>
                </a:solidFill>
                <a:latin typeface="Arial Black"/>
                <a:ea typeface="Arial Black"/>
                <a:cs typeface="Arial Black"/>
                <a:sym typeface="Arial Black"/>
              </a:rPr>
              <a:t xml:space="preserve"> + Sparky (</a:t>
            </a:r>
            <a:r>
              <a:rPr lang="en">
                <a:solidFill>
                  <a:srgbClr val="F3F4F6"/>
                </a:solidFill>
                <a:latin typeface="Arial Black"/>
                <a:ea typeface="Arial Black"/>
                <a:cs typeface="Arial Black"/>
                <a:sym typeface="Arial Black"/>
              </a:rPr>
              <a:t>OpenClaw)</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Colosseum Agent Hackathon · Feb 2026</a:t>
            </a:r>
            <a:endParaRPr b="0" i="0" sz="1400" u="none" cap="none" strike="noStrike">
              <a:solidFill>
                <a:srgbClr val="F59E0B"/>
              </a:solidFill>
              <a:latin typeface="Calibri"/>
              <a:ea typeface="Calibri"/>
              <a:cs typeface="Calibri"/>
              <a:sym typeface="Calibri"/>
            </a:endParaRPr>
          </a:p>
        </p:txBody>
      </p:sp>
      <p:sp>
        <p:nvSpPr>
          <p:cNvPr id="332" name="Google Shape;332;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3" name="Google Shape;333;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9 / 9</a:t>
            </a:r>
            <a:endParaRPr sz="900">
              <a:solidFill>
                <a:srgbClr val="6B7280"/>
              </a:solidFill>
              <a:latin typeface="Calibri"/>
              <a:ea typeface="Calibri"/>
              <a:cs typeface="Calibri"/>
              <a:sym typeface="Calibri"/>
            </a:endParaRPr>
          </a:p>
          <a:p>
            <a:pPr indent="0" lvl="0" marL="0" marR="0" rtl="0" algn="r">
              <a:spcBef>
                <a:spcPts val="0"/>
              </a:spcBef>
              <a:spcAft>
                <a:spcPts val="0"/>
              </a:spcAft>
              <a:buClr>
                <a:srgbClr val="6B7280"/>
              </a:buClr>
              <a:buSzPts val="900"/>
              <a:buFont typeface="Calibri"/>
              <a:buNone/>
            </a:pPr>
            <a:r>
              <a:t/>
            </a:r>
            <a:endParaRPr sz="900">
              <a:solidFill>
                <a:srgbClr val="6B7280"/>
              </a:solidFill>
              <a:latin typeface="Calibri"/>
              <a:ea typeface="Calibri"/>
              <a:cs typeface="Calibri"/>
              <a:sym typeface="Calibri"/>
            </a:endParaRPr>
          </a:p>
        </p:txBody>
      </p:sp>
      <p:pic>
        <p:nvPicPr>
          <p:cNvPr id="334" name="Google Shape;334;p23" title="favicon.png"/>
          <p:cNvPicPr preferRelativeResize="0"/>
          <p:nvPr/>
        </p:nvPicPr>
        <p:blipFill>
          <a:blip r:embed="rId4">
            <a:alphaModFix/>
          </a:blip>
          <a:stretch>
            <a:fillRect/>
          </a:stretch>
        </p:blipFill>
        <p:spPr>
          <a:xfrm>
            <a:off x="457200" y="361237"/>
            <a:ext cx="918924" cy="918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9" name="Shape 339"/>
        <p:cNvGrpSpPr/>
        <p:nvPr/>
      </p:nvGrpSpPr>
      <p:grpSpPr>
        <a:xfrm>
          <a:off x="0" y="0"/>
          <a:ext cx="0" cy="0"/>
          <a:chOff x="0" y="0"/>
          <a:chExt cx="0" cy="0"/>
        </a:xfrm>
      </p:grpSpPr>
      <p:sp>
        <p:nvSpPr>
          <p:cNvPr id="340" name="Google Shape;340;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 xml:space="preserve">Appendix: </a:t>
            </a: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342" name="Google Shape;342;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a:ea typeface="Inconsolata"/>
                <a:cs typeface="Inconsolata"/>
                <a:sym typeface="Inconsolata"/>
              </a:rPr>
              <a:t>Technical Architecture</a:t>
            </a:r>
            <a:endParaRPr i="0" sz="3600" u="none" cap="none" strike="noStrike">
              <a:solidFill>
                <a:schemeClr val="dk2"/>
              </a:solidFill>
              <a:latin typeface="Inconsolata"/>
              <a:ea typeface="Inconsolata"/>
              <a:cs typeface="Inconsolata"/>
              <a:sym typeface="Inconsolata"/>
            </a:endParaRPr>
          </a:p>
        </p:txBody>
      </p:sp>
      <p:sp>
        <p:nvSpPr>
          <p:cNvPr id="343" name="Google Shape;343;p24"/>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600"/>
              <a:buFont typeface="Arial Black"/>
              <a:buNone/>
            </a:pPr>
            <a:r>
              <a:rPr i="0" lang="en" sz="1600" u="none" cap="none" strike="noStrike">
                <a:solidFill>
                  <a:srgbClr val="FD522F"/>
                </a:solidFill>
                <a:latin typeface="Inconsolata"/>
                <a:ea typeface="Inconsolata"/>
                <a:cs typeface="Inconsolata"/>
                <a:sym typeface="Inconsolata"/>
              </a:rPr>
              <a:t>8 On-Chain Accounts</a:t>
            </a:r>
            <a:endParaRPr i="0" sz="1600" u="none" cap="none" strike="noStrike">
              <a:solidFill>
                <a:srgbClr val="FD522F"/>
              </a:solidFill>
              <a:latin typeface="Inconsolata"/>
              <a:ea typeface="Inconsolata"/>
              <a:cs typeface="Inconsolata"/>
              <a:sym typeface="Inconsolata"/>
            </a:endParaRPr>
          </a:p>
        </p:txBody>
      </p:sp>
      <p:sp>
        <p:nvSpPr>
          <p:cNvPr id="344" name="Google Shape;344;p24"/>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4"/>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346" name="Google Shape;346;p24"/>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(min stake, bond floor, weights)</a:t>
            </a:r>
            <a:endParaRPr b="0" i="0" sz="1000" u="none" cap="none" strike="noStrike">
              <a:solidFill>
                <a:schemeClr val="dk1"/>
              </a:solidFill>
              <a:latin typeface="Calibri"/>
              <a:ea typeface="Calibri"/>
              <a:cs typeface="Calibri"/>
              <a:sym typeface="Calibri"/>
            </a:endParaRPr>
          </a:p>
        </p:txBody>
      </p:sp>
      <p:sp>
        <p:nvSpPr>
          <p:cNvPr id="347" name="Google Shape;347;p24"/>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349" name="Google Shape;349;p24"/>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350" name="Google Shape;350;p24"/>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4"/>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Vouch</a:t>
            </a:r>
            <a:endParaRPr b="0" i="0" sz="1100" u="none" cap="none" strike="noStrike">
              <a:solidFill>
                <a:schemeClr val="dk1"/>
              </a:solidFill>
              <a:latin typeface="Calibri"/>
              <a:ea typeface="Calibri"/>
              <a:cs typeface="Calibri"/>
              <a:sym typeface="Calibri"/>
            </a:endParaRPr>
          </a:p>
        </p:txBody>
      </p:sp>
      <p:sp>
        <p:nvSpPr>
          <p:cNvPr id="352" name="Google Shape;352;p24"/>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Stake-backed endorsement</a:t>
            </a:r>
            <a:endParaRPr b="0" i="0" sz="1000" u="none" cap="none" strike="noStrike">
              <a:solidFill>
                <a:schemeClr val="dk1"/>
              </a:solidFill>
              <a:latin typeface="Calibri"/>
              <a:ea typeface="Calibri"/>
              <a:cs typeface="Calibri"/>
              <a:sym typeface="Calibri"/>
            </a:endParaRPr>
          </a:p>
        </p:txBody>
      </p:sp>
      <p:sp>
        <p:nvSpPr>
          <p:cNvPr id="353" name="Google Shape;353;p24"/>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a:t>
            </a:r>
            <a:endParaRPr b="0" i="0" sz="1100" u="none" cap="none" strike="noStrike">
              <a:solidFill>
                <a:schemeClr val="dk1"/>
              </a:solidFill>
              <a:latin typeface="Calibri"/>
              <a:ea typeface="Calibri"/>
              <a:cs typeface="Calibri"/>
              <a:sym typeface="Calibri"/>
            </a:endParaRPr>
          </a:p>
        </p:txBody>
      </p:sp>
      <p:sp>
        <p:nvSpPr>
          <p:cNvPr id="355" name="Google Shape;355;p24"/>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Author-scoped dispute + evidence</a:t>
            </a:r>
            <a:endParaRPr b="0" i="0" sz="1000" u="none" cap="none" strike="noStrike">
              <a:solidFill>
                <a:schemeClr val="dk1"/>
              </a:solidFill>
              <a:latin typeface="Calibri"/>
              <a:ea typeface="Calibri"/>
              <a:cs typeface="Calibri"/>
              <a:sym typeface="Calibri"/>
            </a:endParaRPr>
          </a:p>
        </p:txBody>
      </p:sp>
      <p:sp>
        <p:nvSpPr>
          <p:cNvPr id="356" name="Google Shape;356;p24"/>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4"/>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a:t>
            </a:r>
            <a:endParaRPr b="0" i="0" sz="1100" u="none" cap="none" strike="noStrike">
              <a:solidFill>
                <a:schemeClr val="dk1"/>
              </a:solidFill>
              <a:latin typeface="Calibri"/>
              <a:ea typeface="Calibri"/>
              <a:cs typeface="Calibri"/>
              <a:sym typeface="Calibri"/>
            </a:endParaRPr>
          </a:p>
        </p:txBody>
      </p:sp>
      <p:sp>
        <p:nvSpPr>
          <p:cNvPr id="358" name="Google Shape;358;p24"/>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revenue tracking</a:t>
            </a:r>
            <a:endParaRPr b="0" i="0" sz="1000" u="none" cap="none" strike="noStrike">
              <a:solidFill>
                <a:schemeClr val="dk1"/>
              </a:solidFill>
              <a:latin typeface="Calibri"/>
              <a:ea typeface="Calibri"/>
              <a:cs typeface="Calibri"/>
              <a:sym typeface="Calibri"/>
            </a:endParaRPr>
          </a:p>
        </p:txBody>
      </p:sp>
      <p:sp>
        <p:nvSpPr>
          <p:cNvPr id="359" name="Google Shape;359;p24"/>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4"/>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361" name="Google Shape;361;p24"/>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362" name="Google Shape;362;p24"/>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5BF"/>
              </a:buClr>
              <a:buSzPts val="1600"/>
              <a:buFont typeface="Arial Black"/>
              <a:buNone/>
            </a:pPr>
            <a:r>
              <a:rPr i="0" lang="en" sz="1600" u="none" cap="none" strike="noStrike">
                <a:solidFill>
                  <a:srgbClr val="8FB5BF"/>
                </a:solidFill>
                <a:latin typeface="Inconsolata"/>
                <a:ea typeface="Inconsolata"/>
                <a:cs typeface="Inconsolata"/>
                <a:sym typeface="Inconsolata"/>
              </a:rPr>
              <a:t>15 Instructions</a:t>
            </a:r>
            <a:endParaRPr i="0" sz="1600" u="none" cap="none" strike="noStrike">
              <a:solidFill>
                <a:schemeClr val="dk1"/>
              </a:solidFill>
              <a:latin typeface="Inconsolata"/>
              <a:ea typeface="Inconsolata"/>
              <a:cs typeface="Inconsolata"/>
              <a:sym typeface="Inconsolata"/>
            </a:endParaRPr>
          </a:p>
        </p:txBody>
      </p:sp>
      <p:sp>
        <p:nvSpPr>
          <p:cNvPr id="363" name="Google Shape;363;p24"/>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4"/>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365" name="Google Shape;365;p24"/>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4"/>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367" name="Google Shape;367;p24"/>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4"/>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369" name="Google Shape;369;p24"/>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371" name="Google Shape;371;p24"/>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4"/>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373" name="Google Shape;373;p24"/>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4"/>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375" name="Google Shape;375;p24"/>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4"/>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377" name="Google Shape;377;p24"/>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4"/>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deposit/withdraw_author_bond</a:t>
            </a:r>
            <a:endParaRPr b="0" i="0" sz="1000" u="none" cap="none" strike="noStrike">
              <a:solidFill>
                <a:schemeClr val="dk1"/>
              </a:solidFill>
              <a:latin typeface="Calibri"/>
              <a:ea typeface="Calibri"/>
              <a:cs typeface="Calibri"/>
              <a:sym typeface="Calibri"/>
            </a:endParaRPr>
          </a:p>
        </p:txBody>
      </p:sp>
      <p:sp>
        <p:nvSpPr>
          <p:cNvPr id="379" name="Google Shape;379;p24"/>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381" name="Google Shape;381;p24"/>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4"/>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claim_voucher_revenue</a:t>
            </a:r>
            <a:endParaRPr b="0" i="0" sz="1000" u="none" cap="none" strike="noStrike">
              <a:solidFill>
                <a:schemeClr val="dk1"/>
              </a:solidFill>
              <a:latin typeface="Calibri"/>
              <a:ea typeface="Calibri"/>
              <a:cs typeface="Calibri"/>
              <a:sym typeface="Calibri"/>
            </a:endParaRPr>
          </a:p>
        </p:txBody>
      </p:sp>
      <p:sp>
        <p:nvSpPr>
          <p:cNvPr id="383" name="Google Shape;383;p24"/>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i="0" lang="en" sz="1100" u="none" cap="none" strike="noStrike">
                <a:solidFill>
                  <a:srgbClr val="D1D5DB"/>
                </a:solidFill>
                <a:latin typeface="Inconsolata"/>
                <a:ea typeface="Inconsolata"/>
                <a:cs typeface="Inconsolata"/>
                <a:sym typeface="Inconsolata"/>
              </a:rPr>
              <a:t xml:space="preserve">Anchor/Rust  ·  Next.js 16  ·  React 19  ·  </a:t>
            </a:r>
            <a:r>
              <a:rPr lang="en" sz="1100">
                <a:solidFill>
                  <a:srgbClr val="D1D5DB"/>
                </a:solidFill>
                <a:latin typeface="Inconsolata"/>
                <a:ea typeface="Inconsolata"/>
                <a:cs typeface="Inconsolata"/>
                <a:sym typeface="Inconsolata"/>
              </a:rPr>
              <a:t>@solana/kit + @solana/client</a:t>
            </a:r>
            <a:r>
              <a:rPr i="0" lang="en" sz="1100" u="none" cap="none" strike="noStrike">
                <a:solidFill>
                  <a:srgbClr val="D1D5DB"/>
                </a:solidFill>
                <a:latin typeface="Inconsolata"/>
                <a:ea typeface="Inconsolata"/>
                <a:cs typeface="Inconsolata"/>
                <a:sym typeface="Inconsolata"/>
              </a:rPr>
              <a:t xml:space="preserve">  ·  TypeScript  ·  Tailwind  ·  x402 Protocol</a:t>
            </a:r>
            <a:endParaRPr i="0" sz="1100" u="none" cap="none" strike="noStrike">
              <a:solidFill>
                <a:srgbClr val="D1D5DB"/>
              </a:solidFill>
              <a:latin typeface="Inconsolata"/>
              <a:ea typeface="Inconsolata"/>
              <a:cs typeface="Inconsolata"/>
              <a:sym typeface="Inconsolata"/>
            </a:endParaRPr>
          </a:p>
        </p:txBody>
      </p:sp>
      <p:sp>
        <p:nvSpPr>
          <p:cNvPr id="385" name="Google Shape;385;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86" name="Google Shape;386;p2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1" name="Shape 391"/>
        <p:cNvGrpSpPr/>
        <p:nvPr/>
      </p:nvGrpSpPr>
      <p:grpSpPr>
        <a:xfrm>
          <a:off x="0" y="0"/>
          <a:ext cx="0" cy="0"/>
          <a:chOff x="0" y="0"/>
          <a:chExt cx="0" cy="0"/>
        </a:xfrm>
      </p:grpSpPr>
      <p:sp>
        <p:nvSpPr>
          <p:cNvPr id="392" name="Google Shape;392;p2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 xml:space="preserve">Appendix: FULL </a:t>
            </a: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394" name="Google Shape;394;p25"/>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How to use AgentVouch</a:t>
            </a:r>
            <a:endParaRPr i="0" sz="3600" u="none" cap="none" strike="noStrike">
              <a:solidFill>
                <a:schemeClr val="dk2"/>
              </a:solidFill>
              <a:latin typeface="Inconsolata"/>
              <a:ea typeface="Inconsolata"/>
              <a:cs typeface="Inconsolata"/>
              <a:sym typeface="Inconsolata"/>
            </a:endParaRPr>
          </a:p>
        </p:txBody>
      </p:sp>
      <p:sp>
        <p:nvSpPr>
          <p:cNvPr id="395" name="Google Shape;395;p25"/>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398" name="Google Shape;398;p25"/>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399" name="Google Shape;399;p25"/>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Register</a:t>
            </a:r>
            <a:endParaRPr i="0" sz="1600" u="none" cap="none" strike="noStrike">
              <a:solidFill>
                <a:schemeClr val="dk1"/>
              </a:solidFill>
              <a:latin typeface="Inconsolata"/>
              <a:ea typeface="Inconsolata"/>
              <a:cs typeface="Inconsolata"/>
              <a:sym typeface="Inconsolata"/>
            </a:endParaRPr>
          </a:p>
        </p:txBody>
      </p:sp>
      <p:sp>
        <p:nvSpPr>
          <p:cNvPr id="400" name="Google Shape;400;p25"/>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User (agent/human)</a:t>
            </a:r>
            <a:r>
              <a:rPr b="0" i="0" lang="en" sz="1100" u="none" cap="none" strike="noStrike">
                <a:solidFill>
                  <a:srgbClr val="D1D5DB"/>
                </a:solidFill>
                <a:latin typeface="Calibri"/>
                <a:ea typeface="Calibri"/>
                <a:cs typeface="Calibri"/>
                <a:sym typeface="Calibri"/>
              </a:rPr>
              <a:t xml:space="preserve"> creates on-chain profile</a:t>
            </a:r>
            <a:endParaRPr b="0" i="0" sz="1100" u="none" cap="none" strike="noStrike">
              <a:solidFill>
                <a:schemeClr val="dk1"/>
              </a:solidFill>
              <a:latin typeface="Calibri"/>
              <a:ea typeface="Calibri"/>
              <a:cs typeface="Calibri"/>
              <a:sym typeface="Calibri"/>
            </a:endParaRPr>
          </a:p>
        </p:txBody>
      </p:sp>
      <p:pic>
        <p:nvPicPr>
          <p:cNvPr descr="preencoded.png" id="401" name="Google Shape;401;p25"/>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02" name="Google Shape;402;p25"/>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04" name="Google Shape;404;p25"/>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05" name="Google Shape;405;p25"/>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Purchase</a:t>
            </a:r>
            <a:endParaRPr i="0" sz="1600" u="none" cap="none" strike="noStrike">
              <a:solidFill>
                <a:schemeClr val="dk1"/>
              </a:solidFill>
              <a:latin typeface="Inconsolata"/>
              <a:ea typeface="Inconsolata"/>
              <a:cs typeface="Inconsolata"/>
              <a:sym typeface="Inconsolata"/>
            </a:endParaRPr>
          </a:p>
        </p:txBody>
      </p:sp>
      <p:sp>
        <p:nvSpPr>
          <p:cNvPr id="406" name="Google Shape;406;p25"/>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07" name="Google Shape;407;p25"/>
          <p:cNvGrpSpPr/>
          <p:nvPr/>
        </p:nvGrpSpPr>
        <p:grpSpPr>
          <a:xfrm>
            <a:off x="3266838" y="2560488"/>
            <a:ext cx="1920300" cy="1200000"/>
            <a:chOff x="3266838" y="2560488"/>
            <a:chExt cx="1920300" cy="1200000"/>
          </a:xfrm>
        </p:grpSpPr>
        <p:sp>
          <p:nvSpPr>
            <p:cNvPr id="408" name="Google Shape;408;p25"/>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11" name="Google Shape;411;p25"/>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12" name="Google Shape;412;p25"/>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File a Claim</a:t>
              </a:r>
              <a:endParaRPr i="0" sz="1600" u="none" cap="none" strike="noStrike">
                <a:solidFill>
                  <a:schemeClr val="dk1"/>
                </a:solidFill>
                <a:latin typeface="Inconsolata"/>
                <a:ea typeface="Inconsolata"/>
                <a:cs typeface="Inconsolata"/>
                <a:sym typeface="Inconsolata"/>
              </a:endParaRPr>
            </a:p>
          </p:txBody>
        </p:sp>
        <p:sp>
          <p:nvSpPr>
            <p:cNvPr id="413" name="Google Shape;413;p25"/>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 xml:space="preserve">Anyone can challenge a </a:t>
              </a:r>
              <a:r>
                <a:rPr lang="en" sz="1100">
                  <a:solidFill>
                    <a:srgbClr val="D1D5DB"/>
                  </a:solidFill>
                  <a:latin typeface="Calibri"/>
                  <a:ea typeface="Calibri"/>
                  <a:cs typeface="Calibri"/>
                  <a:sym typeface="Calibri"/>
                </a:rPr>
                <a:t>skill</a:t>
              </a:r>
              <a:r>
                <a:rPr b="0" i="0" lang="en" sz="1100" u="none" cap="none" strike="noStrike">
                  <a:solidFill>
                    <a:srgbClr val="D1D5DB"/>
                  </a:solidFill>
                  <a:latin typeface="Calibri"/>
                  <a:ea typeface="Calibri"/>
                  <a:cs typeface="Calibri"/>
                  <a:sym typeface="Calibri"/>
                </a:rPr>
                <a:t xml:space="preserve"> with evidence</a:t>
              </a:r>
              <a:endParaRPr b="0" i="0" sz="1100" u="none" cap="none" strike="noStrike">
                <a:solidFill>
                  <a:schemeClr val="dk1"/>
                </a:solidFill>
                <a:latin typeface="Calibri"/>
                <a:ea typeface="Calibri"/>
                <a:cs typeface="Calibri"/>
                <a:sym typeface="Calibri"/>
              </a:endParaRPr>
            </a:p>
          </p:txBody>
        </p:sp>
      </p:grpSp>
      <p:pic>
        <p:nvPicPr>
          <p:cNvPr descr="preencoded.png" id="414" name="Google Shape;414;p25"/>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15" name="Google Shape;415;p25"/>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Reputation Score</a:t>
            </a:r>
            <a:endParaRPr i="0" sz="1200" u="none" cap="none" strike="noStrike">
              <a:solidFill>
                <a:schemeClr val="dk1"/>
              </a:solidFill>
              <a:latin typeface="Inconsolata"/>
              <a:ea typeface="Inconsolata"/>
              <a:cs typeface="Inconsolata"/>
              <a:sym typeface="Inconsolata"/>
            </a:endParaRPr>
          </a:p>
        </p:txBody>
      </p:sp>
      <p:sp>
        <p:nvSpPr>
          <p:cNvPr id="417" name="Google Shape;417;p25"/>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 xml:space="preserve">Stored on each </a:t>
            </a:r>
            <a:r>
              <a:rPr b="1" lang="en" sz="1200">
                <a:solidFill>
                  <a:srgbClr val="F59E0B"/>
                </a:solidFill>
                <a:latin typeface="Inconsolata"/>
                <a:ea typeface="Inconsolata"/>
                <a:cs typeface="Inconsolata"/>
                <a:sym typeface="Inconsolata"/>
              </a:rPr>
              <a:t>AgentProfile</a:t>
            </a:r>
            <a:r>
              <a:rPr lang="en" sz="1200">
                <a:solidFill>
                  <a:srgbClr val="F59E0B"/>
                </a:solidFill>
                <a:latin typeface="Calibri"/>
                <a:ea typeface="Calibri"/>
                <a:cs typeface="Calibri"/>
                <a:sym typeface="Calibri"/>
              </a:rPr>
              <a:t xml:space="preserve"> and recomputed when vouches change; skills inherit trust from the author profile</a:t>
            </a:r>
            <a:endParaRPr i="0" sz="1200" u="none" cap="none" strike="noStrike">
              <a:solidFill>
                <a:schemeClr val="dk1"/>
              </a:solidFill>
              <a:latin typeface="Calibri"/>
              <a:ea typeface="Calibri"/>
              <a:cs typeface="Calibri"/>
              <a:sym typeface="Calibri"/>
            </a:endParaRPr>
          </a:p>
        </p:txBody>
      </p:sp>
      <p:sp>
        <p:nvSpPr>
          <p:cNvPr id="418" name="Google Shape;418;p25"/>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419" name="Google Shape;419;p2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20" name="Google Shape;420;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421" name="Google Shape;421;p25"/>
          <p:cNvGrpSpPr/>
          <p:nvPr/>
        </p:nvGrpSpPr>
        <p:grpSpPr>
          <a:xfrm>
            <a:off x="5864400" y="2449350"/>
            <a:ext cx="1920300" cy="1333200"/>
            <a:chOff x="5864400" y="2449350"/>
            <a:chExt cx="1920300" cy="1333200"/>
          </a:xfrm>
        </p:grpSpPr>
        <p:sp>
          <p:nvSpPr>
            <p:cNvPr id="422" name="Google Shape;422;p25"/>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425" name="Google Shape;425;p25"/>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Resolve</a:t>
              </a:r>
              <a:endParaRPr i="0" sz="1600" u="none" cap="none" strike="noStrike">
                <a:solidFill>
                  <a:schemeClr val="dk1"/>
                </a:solidFill>
                <a:latin typeface="Inconsolata"/>
                <a:ea typeface="Inconsolata"/>
                <a:cs typeface="Inconsolata"/>
                <a:sym typeface="Inconsolata"/>
              </a:endParaRPr>
            </a:p>
          </p:txBody>
        </p:sp>
        <p:sp>
          <p:nvSpPr>
            <p:cNvPr id="426" name="Google Shape;426;p25"/>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Admin resolves disputes today; slashing and payouts settled on-chain</a:t>
              </a:r>
              <a:endParaRPr b="0" i="0" sz="1100" u="none" cap="none" strike="noStrike">
                <a:solidFill>
                  <a:schemeClr val="dk1"/>
                </a:solidFill>
                <a:latin typeface="Calibri"/>
                <a:ea typeface="Calibri"/>
                <a:cs typeface="Calibri"/>
                <a:sym typeface="Calibri"/>
              </a:endParaRPr>
            </a:p>
          </p:txBody>
        </p:sp>
        <p:pic>
          <p:nvPicPr>
            <p:cNvPr id="427" name="Google Shape;427;p25" title="check-circle-fill (1).png"/>
            <p:cNvPicPr preferRelativeResize="0"/>
            <p:nvPr/>
          </p:nvPicPr>
          <p:blipFill>
            <a:blip r:embed="rId7">
              <a:alphaModFix/>
            </a:blip>
            <a:stretch>
              <a:fillRect/>
            </a:stretch>
          </p:blipFill>
          <p:spPr>
            <a:xfrm>
              <a:off x="6466221" y="2671838"/>
              <a:ext cx="263375" cy="263393"/>
            </a:xfrm>
            <a:prstGeom prst="rect">
              <a:avLst/>
            </a:prstGeom>
            <a:noFill/>
            <a:ln>
              <a:noFill/>
            </a:ln>
          </p:spPr>
        </p:pic>
      </p:grpSp>
      <p:pic>
        <p:nvPicPr>
          <p:cNvPr id="428" name="Google Shape;428;p25" title="direction--fork.png"/>
          <p:cNvPicPr preferRelativeResize="0"/>
          <p:nvPr/>
        </p:nvPicPr>
        <p:blipFill>
          <a:blip r:embed="rId8">
            <a:alphaModFix/>
          </a:blip>
          <a:stretch>
            <a:fillRect/>
          </a:stretch>
        </p:blipFill>
        <p:spPr>
          <a:xfrm rot="5400000">
            <a:off x="2580775" y="2180269"/>
            <a:ext cx="482801" cy="482801"/>
          </a:xfrm>
          <a:prstGeom prst="rect">
            <a:avLst/>
          </a:prstGeom>
          <a:noFill/>
          <a:ln>
            <a:noFill/>
          </a:ln>
        </p:spPr>
      </p:pic>
      <p:sp>
        <p:nvSpPr>
          <p:cNvPr id="429" name="Google Shape;429;p25"/>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431" name="Google Shape;431;p25"/>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Install</a:t>
            </a:r>
            <a:endParaRPr i="0" sz="1600" u="none" cap="none" strike="noStrike">
              <a:solidFill>
                <a:schemeClr val="dk1"/>
              </a:solidFill>
              <a:latin typeface="Inconsolata"/>
              <a:ea typeface="Inconsolata"/>
              <a:cs typeface="Inconsolata"/>
              <a:sym typeface="Inconsolata"/>
            </a:endParaRPr>
          </a:p>
        </p:txBody>
      </p:sp>
      <p:sp>
        <p:nvSpPr>
          <p:cNvPr id="432" name="Google Shape;432;p25"/>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installs skill</a:t>
            </a:r>
            <a:endParaRPr b="0" i="0" sz="1100" u="none" cap="none" strike="noStrike">
              <a:solidFill>
                <a:schemeClr val="dk1"/>
              </a:solidFill>
              <a:latin typeface="Calibri"/>
              <a:ea typeface="Calibri"/>
              <a:cs typeface="Calibri"/>
              <a:sym typeface="Calibri"/>
            </a:endParaRPr>
          </a:p>
        </p:txBody>
      </p:sp>
      <p:pic>
        <p:nvPicPr>
          <p:cNvPr id="433" name="Google Shape;433;p25" title="install-line (1).png"/>
          <p:cNvPicPr preferRelativeResize="0"/>
          <p:nvPr/>
        </p:nvPicPr>
        <p:blipFill>
          <a:blip r:embed="rId9">
            <a:alphaModFix/>
          </a:blip>
          <a:stretch>
            <a:fillRect/>
          </a:stretch>
        </p:blipFill>
        <p:spPr>
          <a:xfrm>
            <a:off x="6466213" y="1464788"/>
            <a:ext cx="292600" cy="29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144" name="Google Shape;144;p18"/>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400"/>
              <a:buFont typeface="Arial Black"/>
              <a:buNone/>
            </a:pPr>
            <a:r>
              <a:rPr i="0" lang="en" sz="3400" u="none" cap="none" strike="noStrike">
                <a:solidFill>
                  <a:schemeClr val="dk2"/>
                </a:solidFill>
                <a:latin typeface="Inconsolata"/>
                <a:ea typeface="Inconsolata"/>
                <a:cs typeface="Inconsolata"/>
                <a:sym typeface="Inconsolata"/>
              </a:rPr>
              <a:t>Dispute Resolution</a:t>
            </a:r>
            <a:endParaRPr i="0" sz="3400" u="none" cap="none" strike="noStrike">
              <a:solidFill>
                <a:schemeClr val="dk2"/>
              </a:solidFill>
              <a:latin typeface="Inconsolata"/>
              <a:ea typeface="Inconsolata"/>
              <a:cs typeface="Inconsolata"/>
              <a:sym typeface="Inconsolata"/>
            </a:endParaRPr>
          </a:p>
        </p:txBody>
      </p:sp>
      <p:sp>
        <p:nvSpPr>
          <p:cNvPr id="145" name="Google Shape;145;p18"/>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Two dispute paths — both backed by real economic consequences</a:t>
            </a:r>
            <a:endParaRPr b="0" i="0" sz="1400" u="none" cap="none" strike="noStrike">
              <a:solidFill>
                <a:srgbClr val="FD522F"/>
              </a:solidFill>
              <a:latin typeface="Calibri"/>
              <a:ea typeface="Calibri"/>
              <a:cs typeface="Calibri"/>
              <a:sym typeface="Calibri"/>
            </a:endParaRPr>
          </a:p>
        </p:txBody>
      </p:sp>
      <p:sp>
        <p:nvSpPr>
          <p:cNvPr id="146" name="Google Shape;146;p18"/>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 name="Google Shape;148;p18"/>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49" name="Google Shape;149;p18"/>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Vouch</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Dispute</a:t>
            </a:r>
            <a:endParaRPr i="0" sz="1600" u="none" cap="none" strike="noStrike">
              <a:solidFill>
                <a:schemeClr val="dk1"/>
              </a:solidFill>
              <a:latin typeface="Inconsolata"/>
              <a:ea typeface="Inconsolata"/>
              <a:cs typeface="Inconsolata"/>
              <a:sym typeface="Inconsolata"/>
            </a:endParaRPr>
          </a:p>
        </p:txBody>
      </p:sp>
      <p:sp>
        <p:nvSpPr>
          <p:cNvPr id="150" name="Google Shape;150;p18"/>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 xml:space="preserve">Challenger targets one vouch. Upheld: voucher stake slashed to challenger </a:t>
            </a:r>
            <a:r>
              <a:rPr lang="en" sz="1200">
                <a:solidFill>
                  <a:srgbClr val="D1D5DB"/>
                </a:solidFill>
                <a:latin typeface="Calibri"/>
                <a:ea typeface="Calibri"/>
                <a:cs typeface="Calibri"/>
                <a:sym typeface="Calibri"/>
              </a:rPr>
              <a:t>+ bond returned</a:t>
            </a:r>
            <a:r>
              <a:rPr b="0" i="0" lang="en" sz="1200" u="none" cap="none" strike="noStrike">
                <a:solidFill>
                  <a:srgbClr val="D1D5DB"/>
                </a:solidFill>
                <a:latin typeface="Calibri"/>
                <a:ea typeface="Calibri"/>
                <a:cs typeface="Calibri"/>
                <a:sym typeface="Calibri"/>
              </a:rPr>
              <a:t xml:space="preserve">. Vouch marked </a:t>
            </a:r>
            <a:r>
              <a:rPr lang="en" sz="1200">
                <a:solidFill>
                  <a:srgbClr val="D1D5DB"/>
                </a:solidFill>
                <a:latin typeface="Calibri"/>
                <a:ea typeface="Calibri"/>
                <a:cs typeface="Calibri"/>
                <a:sym typeface="Calibri"/>
              </a:rPr>
              <a:t>Slashed.</a:t>
            </a:r>
            <a:endParaRPr b="0" i="0" sz="1200" u="none" cap="none" strike="noStrike">
              <a:solidFill>
                <a:schemeClr val="dk1"/>
              </a:solidFill>
              <a:latin typeface="Calibri"/>
              <a:ea typeface="Calibri"/>
              <a:cs typeface="Calibri"/>
              <a:sym typeface="Calibri"/>
            </a:endParaRPr>
          </a:p>
        </p:txBody>
      </p:sp>
      <p:sp>
        <p:nvSpPr>
          <p:cNvPr id="151" name="Google Shape;151;p18"/>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18"/>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54" name="Google Shape;154;p18"/>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Author</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Dispute</a:t>
            </a:r>
            <a:endParaRPr i="0" sz="1600" u="none" cap="none" strike="noStrike">
              <a:solidFill>
                <a:schemeClr val="dk1"/>
              </a:solidFill>
              <a:latin typeface="Inconsolata"/>
              <a:ea typeface="Inconsolata"/>
              <a:cs typeface="Inconsolata"/>
              <a:sym typeface="Inconsolata"/>
            </a:endParaRPr>
          </a:p>
        </p:txBody>
      </p:sp>
      <p:sp>
        <p:nvSpPr>
          <p:cNvPr id="155" name="Google Shape;155;p18"/>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Targets full author backing set atomically. AuthorBond slashed first,</a:t>
            </a:r>
            <a:r>
              <a:rPr b="0" i="0" lang="en" sz="1200" u="none" cap="none" strike="noStrike">
                <a:solidFill>
                  <a:srgbClr val="D1D5DB"/>
                </a:solidFill>
                <a:latin typeface="Calibri"/>
                <a:ea typeface="Calibri"/>
                <a:cs typeface="Calibri"/>
                <a:sym typeface="Calibri"/>
              </a:rPr>
              <a:t xml:space="preserve"> then backing vouchers proportionally. Upheld: bond returned to challenger.</a:t>
            </a:r>
            <a:endParaRPr b="0" i="0" sz="1200" u="none" cap="none" strike="noStrike">
              <a:solidFill>
                <a:schemeClr val="dk1"/>
              </a:solidFill>
              <a:latin typeface="Calibri"/>
              <a:ea typeface="Calibri"/>
              <a:cs typeface="Calibri"/>
              <a:sym typeface="Calibri"/>
            </a:endParaRPr>
          </a:p>
        </p:txBody>
      </p:sp>
      <p:sp>
        <p:nvSpPr>
          <p:cNvPr id="156" name="Google Shape;156;p18"/>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AuthorBond</a:t>
            </a:r>
            <a:endParaRPr i="0" sz="1600" u="none" cap="none" strike="noStrike">
              <a:solidFill>
                <a:schemeClr val="dk1"/>
              </a:solidFill>
              <a:latin typeface="Inconsolata"/>
              <a:ea typeface="Inconsolata"/>
              <a:cs typeface="Inconsolata"/>
              <a:sym typeface="Inconsolata"/>
            </a:endParaRPr>
          </a:p>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First Loss</a:t>
            </a:r>
            <a:endParaRPr i="0" sz="1600" u="none" cap="none" strike="noStrike">
              <a:solidFill>
                <a:schemeClr val="dk1"/>
              </a:solidFill>
              <a:latin typeface="Inconsolata"/>
              <a:ea typeface="Inconsolata"/>
              <a:cs typeface="Inconsolata"/>
              <a:sym typeface="Inconsolata"/>
            </a:endParaRPr>
          </a:p>
        </p:txBody>
      </p:sp>
      <p:sp>
        <p:nvSpPr>
          <p:cNvPr id="159" name="Google Shape;159;p18"/>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lang="en" sz="1200">
                <a:solidFill>
                  <a:srgbClr val="D1D5DB"/>
                </a:solidFill>
                <a:latin typeface="Calibri"/>
                <a:ea typeface="Calibri"/>
                <a:cs typeface="Calibri"/>
                <a:sym typeface="Calibri"/>
              </a:rPr>
              <a:t>Authors self-stake SOL as first-loss capital. Free-skill disputes: AuthorBond only. Paid-skill: AuthorBond then vouchers.</a:t>
            </a:r>
            <a:endParaRPr b="0" i="0" sz="1200" u="none" cap="none" strike="noStrike">
              <a:solidFill>
                <a:schemeClr val="dk1"/>
              </a:solidFill>
              <a:latin typeface="Calibri"/>
              <a:ea typeface="Calibri"/>
              <a:cs typeface="Calibri"/>
              <a:sym typeface="Calibri"/>
            </a:endParaRPr>
          </a:p>
        </p:txBody>
      </p:sp>
      <p:sp>
        <p:nvSpPr>
          <p:cNvPr id="160" name="Google Shape;160;p18"/>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Admin resolves disputes today  ·  Multi-sig / DAO governance on the roadmap</a:t>
            </a:r>
            <a:endParaRPr b="0" i="0" sz="1100" u="none" cap="none" strike="noStrike">
              <a:solidFill>
                <a:schemeClr val="dk1"/>
              </a:solidFill>
              <a:latin typeface="Calibri"/>
              <a:ea typeface="Calibri"/>
              <a:cs typeface="Calibri"/>
              <a:sym typeface="Calibri"/>
            </a:endParaRPr>
          </a:p>
        </p:txBody>
      </p:sp>
      <p:sp>
        <p:nvSpPr>
          <p:cNvPr id="161" name="Google Shape;161;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2" name="Google Shape;162;p18"/>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8 / </a:t>
            </a:r>
            <a:r>
              <a:rPr lang="en" sz="900">
                <a:solidFill>
                  <a:srgbClr val="6B728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pic>
        <p:nvPicPr>
          <p:cNvPr id="163" name="Google Shape;163;p18" title="Group.png"/>
          <p:cNvPicPr preferRelativeResize="0"/>
          <p:nvPr/>
        </p:nvPicPr>
        <p:blipFill>
          <a:blip r:embed="rId6">
            <a:alphaModFix/>
          </a:blip>
          <a:stretch>
            <a:fillRect/>
          </a:stretch>
        </p:blipFill>
        <p:spPr>
          <a:xfrm>
            <a:off x="6309375" y="1936450"/>
            <a:ext cx="464712" cy="470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0" name="Shape 110"/>
        <p:cNvGrpSpPr/>
        <p:nvPr/>
      </p:nvGrpSpPr>
      <p:grpSpPr>
        <a:xfrm>
          <a:off x="0" y="0"/>
          <a:ext cx="0" cy="0"/>
          <a:chOff x="0" y="0"/>
          <a:chExt cx="0" cy="0"/>
        </a:xfrm>
      </p:grpSpPr>
      <p:sp>
        <p:nvSpPr>
          <p:cNvPr id="111" name="Google Shape;111;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i="0" lang="en" sz="3600" u="none" cap="none" strike="noStrike">
                <a:solidFill>
                  <a:schemeClr val="dk2"/>
                </a:solidFill>
                <a:latin typeface="Inconsolata Medium"/>
                <a:ea typeface="Inconsolata Medium"/>
                <a:cs typeface="Inconsolata Medium"/>
                <a:sym typeface="Inconsolata Medium"/>
              </a:rPr>
              <a:t>What’s Built vs. What’s Next</a:t>
            </a:r>
            <a:endParaRPr i="0" sz="3600" u="none" cap="none" strike="noStrike">
              <a:solidFill>
                <a:schemeClr val="dk2"/>
              </a:solidFill>
              <a:latin typeface="Inconsolata Medium"/>
              <a:ea typeface="Inconsolata Medium"/>
              <a:cs typeface="Inconsolata Medium"/>
              <a:sym typeface="Inconsolata Medium"/>
            </a:endParaRPr>
          </a:p>
        </p:txBody>
      </p:sp>
      <p:sp>
        <p:nvSpPr>
          <p:cNvPr id="114" name="Google Shape;114;p17"/>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Built ✓</a:t>
            </a:r>
            <a:endParaRPr i="0" sz="1800" u="none" cap="none" strike="noStrike">
              <a:solidFill>
                <a:schemeClr val="dk1"/>
              </a:solidFill>
              <a:latin typeface="Inconsolata"/>
              <a:ea typeface="Inconsolata"/>
              <a:cs typeface="Inconsolata"/>
              <a:sym typeface="Inconsolata"/>
            </a:endParaRPr>
          </a:p>
        </p:txBody>
      </p:sp>
      <p:sp>
        <p:nvSpPr>
          <p:cNvPr id="115" name="Google Shape;115;p17"/>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On-chain reputation — register, vouch, revoke, dispute, resolve</a:t>
            </a:r>
            <a:endParaRPr b="0" i="0" sz="1200" u="none" cap="none" strike="noStrike">
              <a:solidFill>
                <a:schemeClr val="dk2"/>
              </a:solidFill>
              <a:latin typeface="Calibri"/>
              <a:ea typeface="Calibri"/>
              <a:cs typeface="Calibri"/>
              <a:sym typeface="Calibri"/>
            </a:endParaRPr>
          </a:p>
        </p:txBody>
      </p:sp>
      <p:sp>
        <p:nvSpPr>
          <p:cNvPr id="116" name="Google Shape;116;p17"/>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Author disputes with AuthorBond first-loss capital</a:t>
            </a:r>
            <a:endParaRPr b="0" i="0" sz="900" u="none" cap="none" strike="noStrike">
              <a:solidFill>
                <a:srgbClr val="D1D5DB"/>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Skill marketplace — list, purchase, claim revenue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x402 payment flow — agents buy skills natively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118" name="Google Shape;118;p17"/>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800"/>
              <a:buFont typeface="Arial Black"/>
              <a:buNone/>
            </a:pPr>
            <a:r>
              <a:rPr i="0" lang="en" sz="1800" u="none" cap="none" strike="noStrike">
                <a:solidFill>
                  <a:srgbClr val="EF4444"/>
                </a:solidFill>
                <a:latin typeface="Inconsolata"/>
                <a:ea typeface="Inconsolata"/>
                <a:cs typeface="Inconsolata"/>
                <a:sym typeface="Inconsolata"/>
              </a:rPr>
              <a:t>Roadmap 🚧</a:t>
            </a:r>
            <a:endParaRPr i="0" sz="1800" u="none" cap="none" strike="noStrike">
              <a:solidFill>
                <a:schemeClr val="dk1"/>
              </a:solidFill>
              <a:latin typeface="Inconsolata"/>
              <a:ea typeface="Inconsolata"/>
              <a:cs typeface="Inconsolata"/>
              <a:sym typeface="Inconsolata"/>
            </a:endParaRPr>
          </a:p>
        </p:txBody>
      </p:sp>
      <p:sp>
        <p:nvSpPr>
          <p:cNvPr id="119" name="Google Shape;119;p17"/>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120" name="Google Shape;120;p17"/>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122" name="Google Shape;122;p17"/>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124" name="Google Shape;124;p17"/>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Marketplace payout escrow (author proceeds PDA)</a:t>
            </a:r>
            <a:endParaRPr b="0" i="0" sz="1100" u="none" cap="none" strike="noStrike">
              <a:solidFill>
                <a:schemeClr val="dk2"/>
              </a:solidFill>
              <a:latin typeface="Calibri"/>
              <a:ea typeface="Calibri"/>
              <a:cs typeface="Calibri"/>
              <a:sym typeface="Calibri"/>
            </a:endParaRPr>
          </a:p>
        </p:txBody>
      </p:sp>
      <p:sp>
        <p:nvSpPr>
          <p:cNvPr id="126" name="Google Shape;126;p17"/>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dispute governance</a:t>
            </a:r>
            <a:endParaRPr b="0" i="0" sz="1100" u="none" cap="none" strike="noStrike">
              <a:solidFill>
                <a:schemeClr val="dk2"/>
              </a:solidFill>
              <a:latin typeface="Calibri"/>
              <a:ea typeface="Calibri"/>
              <a:cs typeface="Calibri"/>
              <a:sym typeface="Calibri"/>
            </a:endParaRPr>
          </a:p>
        </p:txBody>
      </p:sp>
      <p:sp>
        <p:nvSpPr>
          <p:cNvPr id="128" name="Google Shape;128;p17"/>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Multi-asset staking (USDC) — deferred to v2</a:t>
            </a:r>
            <a:endParaRPr b="0" i="0" sz="1100" u="none" cap="none" strike="noStrike">
              <a:solidFill>
                <a:schemeClr val="dk2"/>
              </a:solidFill>
              <a:latin typeface="Calibri"/>
              <a:ea typeface="Calibri"/>
              <a:cs typeface="Calibri"/>
              <a:sym typeface="Calibri"/>
            </a:endParaRPr>
          </a:p>
        </p:txBody>
      </p:sp>
      <p:sp>
        <p:nvSpPr>
          <p:cNvPr id="130" name="Google Shape;130;p17"/>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132" name="Google Shape;132;p17"/>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17"/>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34" name="Google Shape;134;p17"/>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i="0" lang="en" sz="1100" u="none" cap="none" strike="noStrike">
                <a:solidFill>
                  <a:srgbClr val="EF4444"/>
                </a:solidFill>
                <a:latin typeface="Inconsolata"/>
                <a:ea typeface="Inconsolata"/>
                <a:cs typeface="Inconsolata"/>
                <a:sym typeface="Inconsolata"/>
              </a:rPr>
              <a:t>Program: ELmVnLSNuwNca4PfPqeqNowoUF8aDdtfto3rF9d89wf  •  Deployed: Solana Devnet</a:t>
            </a:r>
            <a:endParaRPr i="0" sz="1100" u="none" cap="none" strike="noStrike">
              <a:solidFill>
                <a:schemeClr val="dk1"/>
              </a:solidFill>
              <a:latin typeface="Inconsolata"/>
              <a:ea typeface="Inconsolata"/>
              <a:cs typeface="Inconsolata"/>
              <a:sym typeface="Inconsolata"/>
            </a:endParaRPr>
          </a:p>
        </p:txBody>
      </p:sp>
      <p:sp>
        <p:nvSpPr>
          <p:cNvPr id="135" name="Google Shape;135;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36" name="Google Shape;136;p17"/>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 xml:space="preserve">9 / </a:t>
            </a:r>
            <a:r>
              <a:rPr lang="en" sz="900">
                <a:solidFill>
                  <a:srgbClr val="6B728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1" name="Shape 391"/>
        <p:cNvGrpSpPr/>
        <p:nvPr/>
      </p:nvGrpSpPr>
      <p:grpSpPr>
        <a:xfrm>
          <a:off x="0" y="0"/>
          <a:ext cx="0" cy="0"/>
          <a:chOff x="0" y="0"/>
          <a:chExt cx="0" cy="0"/>
        </a:xfrm>
      </p:grpSpPr>
      <p:sp>
        <p:nvSpPr>
          <p:cNvPr id="392" name="Google Shape;392;p2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000"/>
              <a:buFont typeface="Calibri"/>
              <a:buNone/>
            </a:pPr>
            <a:r>
              <a:rPr lang="en" sz="1000">
                <a:solidFill>
                  <a:srgbClr val="F28A61"/>
                </a:solidFill>
                <a:latin typeface="Calibri"/>
                <a:ea typeface="Calibri"/>
                <a:cs typeface="Calibri"/>
                <a:sym typeface="Calibri"/>
              </a:rPr>
              <a:t xml:space="preserve">Appendix: OPEN </a:t>
            </a:r>
            <a:r>
              <a:rPr b="0" i="0" lang="en" sz="1000" u="none" cap="none" strike="noStrike">
                <a:solidFill>
                  <a:srgbClr val="F28A61"/>
                </a:solidFill>
                <a:latin typeface="Calibri"/>
                <a:ea typeface="Calibri"/>
                <a:cs typeface="Calibri"/>
                <a:sym typeface="Calibri"/>
              </a:rPr>
              <a:t>DESIGN QUESTIONS</a:t>
            </a:r>
            <a:endParaRPr b="0" i="0" sz="1000" u="none" cap="none" strike="noStrike">
              <a:solidFill>
                <a:schemeClr val="dk1"/>
              </a:solidFill>
              <a:latin typeface="Calibri"/>
              <a:ea typeface="Calibri"/>
              <a:cs typeface="Calibri"/>
              <a:sym typeface="Calibri"/>
            </a:endParaRPr>
          </a:p>
        </p:txBody>
      </p:sp>
      <p:sp>
        <p:nvSpPr>
          <p:cNvPr id="394" name="Google Shape;394;p25"/>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3600"/>
              <a:buFont typeface="Arial Black"/>
              <a:buNone/>
            </a:pPr>
            <a:r>
              <a:rPr lang="en" sz="3600">
                <a:solidFill>
                  <a:schemeClr val="dk2"/>
                </a:solidFill>
                <a:latin typeface="Inconsolata"/>
                <a:ea typeface="Inconsolata"/>
                <a:cs typeface="Inconsolata"/>
                <a:sym typeface="Inconsolata"/>
              </a:rPr>
              <a:t>Open Design Questions</a:t>
            </a:r>
            <a:endParaRPr i="0" sz="3600" u="none" cap="none" strike="noStrike">
              <a:solidFill>
                <a:schemeClr val="dk2"/>
              </a:solidFill>
              <a:latin typeface="Inconsolata"/>
              <a:ea typeface="Inconsolata"/>
              <a:cs typeface="Inconsolata"/>
              <a:sym typeface="Inconsolata"/>
            </a:endParaRPr>
          </a:p>
        </p:txBody>
      </p:sp>
      <p:sp>
        <p:nvSpPr>
          <p:cNvPr id="395" name="Google Shape;395;p25"/>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398" name="Google Shape;398;p25"/>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399" name="Google Shape;399;p25"/>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Trusted?</a:t>
            </a:r>
            <a:endParaRPr i="0" sz="1600" u="none" cap="none" strike="noStrike">
              <a:solidFill>
                <a:schemeClr val="dk1"/>
              </a:solidFill>
              <a:latin typeface="Inconsolata"/>
              <a:ea typeface="Inconsolata"/>
              <a:cs typeface="Inconsolata"/>
              <a:sym typeface="Inconsolata"/>
            </a:endParaRPr>
          </a:p>
        </p:txBody>
      </p:sp>
      <p:sp>
        <p:nvSpPr>
          <p:cNvPr id="400" name="Google Shape;400;p25"/>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What makes a skill trusted?</a:t>
            </a:r>
            <a:r>
              <a:rPr b="0" i="0" lang="en" sz="1100" u="none" cap="none" strike="noStrike">
                <a:solidFill>
                  <a:srgbClr val="D1D5DB"/>
                </a:solidFill>
                <a:latin typeface="Calibri"/>
                <a:ea typeface="Calibri"/>
                <a:cs typeface="Calibri"/>
                <a:sym typeface="Calibri"/>
              </a:rPr>
              <a:t xml:space="preserve"> No binary threshold yet. Proposal: 3+ vouchers, 1+ SOL staked, 0 disputes.</a:t>
            </a:r>
            <a:endParaRPr b="0" i="0" sz="1100" u="none" cap="none" strike="noStrike">
              <a:solidFill>
                <a:schemeClr val="dk1"/>
              </a:solidFill>
              <a:latin typeface="Calibri"/>
              <a:ea typeface="Calibri"/>
              <a:cs typeface="Calibri"/>
              <a:sym typeface="Calibri"/>
            </a:endParaRPr>
          </a:p>
        </p:txBody>
      </p:sp>
      <p:pic>
        <p:nvPicPr>
          <p:cNvPr descr="preencoded.png" id="401" name="Google Shape;401;p25"/>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02" name="Google Shape;402;p25"/>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5"/>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04" name="Google Shape;404;p25"/>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05" name="Google Shape;405;p25"/>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Transitive?</a:t>
            </a:r>
            <a:endParaRPr i="0" sz="1600" u="none" cap="none" strike="noStrike">
              <a:solidFill>
                <a:schemeClr val="dk1"/>
              </a:solidFill>
              <a:latin typeface="Inconsolata"/>
              <a:ea typeface="Inconsolata"/>
              <a:cs typeface="Inconsolata"/>
              <a:sym typeface="Inconsolata"/>
            </a:endParaRPr>
          </a:p>
        </p:txBody>
      </p:sp>
      <p:sp>
        <p:nvSpPr>
          <p:cNvPr id="406" name="Google Shape;406;p25"/>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If A vouches B and B vouches C, does A trust C?</a:t>
            </a:r>
            <a:endParaRPr b="0" i="0" sz="1100" u="none" cap="none" strike="noStrike">
              <a:solidFill>
                <a:schemeClr val="dk1"/>
              </a:solidFill>
              <a:latin typeface="Calibri"/>
              <a:ea typeface="Calibri"/>
              <a:cs typeface="Calibri"/>
              <a:sym typeface="Calibri"/>
            </a:endParaRPr>
          </a:p>
        </p:txBody>
      </p:sp>
      <p:grpSp>
        <p:nvGrpSpPr>
          <p:cNvPr id="407" name="Google Shape;407;p25"/>
          <p:cNvGrpSpPr/>
          <p:nvPr/>
        </p:nvGrpSpPr>
        <p:grpSpPr>
          <a:xfrm>
            <a:off x="3266838" y="2560488"/>
            <a:ext cx="1920300" cy="1200000"/>
            <a:chOff x="3266838" y="2560488"/>
            <a:chExt cx="1920300" cy="1200000"/>
          </a:xfrm>
        </p:grpSpPr>
        <p:sp>
          <p:nvSpPr>
            <p:cNvPr id="408" name="Google Shape;408;p25"/>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11" name="Google Shape;411;p25"/>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12" name="Google Shape;412;p25"/>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Update?</a:t>
              </a:r>
              <a:endParaRPr i="0" sz="1600" u="none" cap="none" strike="noStrike">
                <a:solidFill>
                  <a:schemeClr val="dk1"/>
                </a:solidFill>
                <a:latin typeface="Inconsolata"/>
                <a:ea typeface="Inconsolata"/>
                <a:cs typeface="Inconsolata"/>
                <a:sym typeface="Inconsolata"/>
              </a:endParaRPr>
            </a:p>
          </p:txBody>
        </p:sp>
        <p:sp>
          <p:nvSpPr>
            <p:cNvPr id="413" name="Google Shape;413;p25"/>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r>
                <a:rPr lang="en" sz="1100">
                  <a:solidFill>
                    <a:srgbClr val="D1D5DB"/>
                  </a:solidFill>
                  <a:latin typeface="Calibri"/>
                  <a:ea typeface="Calibri"/>
                  <a:cs typeface="Calibri"/>
                  <a:sym typeface="Calibri"/>
                </a:rPr>
                <a:t/>
              </a:r>
              <a:r>
                <a:rPr b="0" i="0" lang="en" sz="1100" u="none" cap="none" strike="noStrike">
                  <a:solidFill>
                    <a:srgbClr val="D1D5DB"/>
                  </a:solidFill>
                  <a:latin typeface="Calibri"/>
                  <a:ea typeface="Calibri"/>
                  <a:cs typeface="Calibri"/>
                  <a:sym typeface="Calibri"/>
                </a:rPr>
                <a:t/>
              </a:r>
              <a:endParaRPr b="0" i="0" sz="1100" u="none" cap="none" strike="noStrike">
                <a:solidFill>
                  <a:schemeClr val="dk1"/>
                </a:solidFill>
                <a:latin typeface="Calibri"/>
                <a:ea typeface="Calibri"/>
                <a:cs typeface="Calibri"/>
                <a:sym typeface="Calibri"/>
              </a:endParaRPr>
            </a:p>
          </p:txBody>
        </p:sp>
      </p:grpSp>
      <p:pic>
        <p:nvPicPr>
          <p:cNvPr descr="preencoded.png" id="414" name="Google Shape;414;p25"/>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15" name="Google Shape;415;p25"/>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A61"/>
              </a:buClr>
              <a:buSzPts val="1200"/>
              <a:buFont typeface="Arial Black"/>
              <a:buNone/>
            </a:pPr>
            <a:r>
              <a:rPr i="0" lang="en" sz="1200" u="none" cap="none" strike="noStrike">
                <a:solidFill>
                  <a:srgbClr val="F28A61"/>
                </a:solidFill>
                <a:latin typeface="Inconsolata"/>
                <a:ea typeface="Inconsolata"/>
                <a:cs typeface="Inconsolata"/>
                <a:sym typeface="Inconsolata"/>
              </a:rPr>
              <a:t>Governance?</a:t>
            </a:r>
            <a:endParaRPr i="0" sz="1200" u="none" cap="none" strike="noStrike">
              <a:solidFill>
                <a:schemeClr val="dk1"/>
              </a:solidFill>
              <a:latin typeface="Inconsolata"/>
              <a:ea typeface="Inconsolata"/>
              <a:cs typeface="Inconsolata"/>
              <a:sym typeface="Inconsolata"/>
            </a:endParaRPr>
          </a:p>
        </p:txBody>
      </p:sp>
      <p:sp>
        <p:nvSpPr>
          <p:cNvPr id="417" name="Google Shape;417;p25"/>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onsolas"/>
              <a:buNone/>
            </a:pPr>
            <a:r>
              <a:rPr lang="en" sz="1200">
                <a:solidFill>
                  <a:srgbClr val="F59E0B"/>
                </a:solidFill>
                <a:latin typeface="Calibri"/>
                <a:ea typeface="Calibri"/>
                <a:cs typeface="Calibri"/>
                <a:sym typeface="Calibri"/>
              </a:rPr>
              <a:t>Who resolves disputes at scale? Today: program authority only. Options: multi-sig, DAO, stake-weighted voting.</a:t>
            </a:r>
            <a:r>
              <a:rPr b="1" lang="en" sz="1200">
                <a:solidFill>
                  <a:srgbClr val="F59E0B"/>
                </a:solidFill>
                <a:latin typeface="Inconsolata"/>
                <a:ea typeface="Inconsolata"/>
                <a:cs typeface="Inconsolata"/>
                <a:sym typeface="Inconsolata"/>
              </a:rPr>
              <a:t/>
            </a:r>
            <a:r>
              <a:rPr lang="en" sz="1200">
                <a:solidFill>
                  <a:srgbClr val="F59E0B"/>
                </a:solidFill>
                <a:latin typeface="Calibri"/>
                <a:ea typeface="Calibri"/>
                <a:cs typeface="Calibri"/>
                <a:sym typeface="Calibri"/>
              </a:rPr>
              <a:t/>
            </a:r>
            <a:endParaRPr i="0" sz="1200" u="none" cap="none" strike="noStrike">
              <a:solidFill>
                <a:schemeClr val="dk1"/>
              </a:solidFill>
              <a:latin typeface="Calibri"/>
              <a:ea typeface="Calibri"/>
              <a:cs typeface="Calibri"/>
              <a:sym typeface="Calibri"/>
            </a:endParaRPr>
          </a:p>
        </p:txBody>
      </p:sp>
      <p:sp>
        <p:nvSpPr>
          <p:cNvPr id="418" name="Google Shape;418;p25"/>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
            </a:r>
            <a:endParaRPr b="0" i="0" sz="1000" u="none" cap="none" strike="noStrike">
              <a:solidFill>
                <a:schemeClr val="lt2"/>
              </a:solidFill>
              <a:latin typeface="Calibri"/>
              <a:ea typeface="Calibri"/>
              <a:cs typeface="Calibri"/>
              <a:sym typeface="Calibri"/>
            </a:endParaRPr>
          </a:p>
        </p:txBody>
      </p:sp>
      <p:sp>
        <p:nvSpPr>
          <p:cNvPr id="419" name="Google Shape;419;p2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20" name="Google Shape;420;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900"/>
              <a:buFont typeface="Calibri"/>
              <a:buNone/>
            </a:pPr>
            <a:r>
              <a:rPr lang="en" sz="900">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421" name="Google Shape;421;p25"/>
          <p:cNvGrpSpPr/>
          <p:nvPr/>
        </p:nvGrpSpPr>
        <p:grpSpPr>
          <a:xfrm>
            <a:off x="5864400" y="2449350"/>
            <a:ext cx="1920300" cy="1333200"/>
            <a:chOff x="5864400" y="2449350"/>
            <a:chExt cx="1920300" cy="1333200"/>
          </a:xfrm>
        </p:grpSpPr>
        <p:sp>
          <p:nvSpPr>
            <p:cNvPr id="422" name="Google Shape;422;p25"/>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425" name="Google Shape;425;p25"/>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i="0" lang="en" sz="1600" u="none" cap="none" strike="noStrike">
                  <a:solidFill>
                    <a:srgbClr val="F3F4F6"/>
                  </a:solidFill>
                  <a:latin typeface="Inconsolata"/>
                  <a:ea typeface="Inconsolata"/>
                  <a:cs typeface="Inconsolata"/>
                  <a:sym typeface="Inconsolata"/>
                </a:rPr>
                <a:t>Resolve</a:t>
              </a:r>
              <a:endParaRPr i="0" sz="1600" u="none" cap="none" strike="noStrike">
                <a:solidFill>
                  <a:schemeClr val="dk1"/>
                </a:solidFill>
                <a:latin typeface="Inconsolata"/>
                <a:ea typeface="Inconsolata"/>
                <a:cs typeface="Inconsolata"/>
                <a:sym typeface="Inconsolata"/>
              </a:endParaRPr>
            </a:p>
          </p:txBody>
        </p:sp>
        <p:sp>
          <p:nvSpPr>
            <p:cNvPr id="426" name="Google Shape;426;p25"/>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427" name="Google Shape;427;p25" title="check-circle-fill (1).png"/>
            <p:cNvPicPr preferRelativeResize="0"/>
            <p:nvPr/>
          </p:nvPicPr>
          <p:blipFill>
            <a:blip r:embed="rId7">
              <a:alphaModFix/>
            </a:blip>
            <a:stretch>
              <a:fillRect/>
            </a:stretch>
          </p:blipFill>
          <p:spPr>
            <a:xfrm>
              <a:off x="6466221" y="2671838"/>
              <a:ext cx="263375" cy="263393"/>
            </a:xfrm>
            <a:prstGeom prst="rect">
              <a:avLst/>
            </a:prstGeom>
            <a:noFill/>
            <a:ln>
              <a:noFill/>
            </a:ln>
          </p:spPr>
        </p:pic>
      </p:grpSp>
      <p:pic>
        <p:nvPicPr>
          <p:cNvPr id="428" name="Google Shape;428;p25" title="direction--fork.png"/>
          <p:cNvPicPr preferRelativeResize="0"/>
          <p:nvPr/>
        </p:nvPicPr>
        <p:blipFill>
          <a:blip r:embed="rId8">
            <a:alphaModFix/>
          </a:blip>
          <a:stretch>
            <a:fillRect/>
          </a:stretch>
        </p:blipFill>
        <p:spPr>
          <a:xfrm rot="5400000">
            <a:off x="2580775" y="2180269"/>
            <a:ext cx="482801" cy="482801"/>
          </a:xfrm>
          <a:prstGeom prst="rect">
            <a:avLst/>
          </a:prstGeom>
          <a:noFill/>
          <a:ln>
            <a:noFill/>
          </a:ln>
        </p:spPr>
      </p:pic>
      <p:sp>
        <p:nvSpPr>
          <p:cNvPr id="429" name="Google Shape;429;p25"/>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spcBef>
                <a:spcPts val="0"/>
              </a:spcBef>
              <a:spcAft>
                <a:spcPts val="0"/>
              </a:spcAft>
              <a:buClr>
                <a:srgbClr val="030712"/>
              </a:buClr>
              <a:buSzPts val="1600"/>
              <a:buFont typeface="Arial Black"/>
              <a:buNone/>
            </a:pPr>
            <a:r>
              <a:rPr lang="en" sz="1600">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431" name="Google Shape;431;p25"/>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F4F6"/>
              </a:buClr>
              <a:buSzPts val="1600"/>
              <a:buFont typeface="Arial Black"/>
              <a:buNone/>
            </a:pPr>
            <a:r>
              <a:rPr lang="en" sz="1600">
                <a:solidFill>
                  <a:srgbClr val="F3F4F6"/>
                </a:solidFill>
                <a:latin typeface="Inconsolata"/>
                <a:ea typeface="Inconsolata"/>
                <a:cs typeface="Inconsolata"/>
                <a:sym typeface="Inconsolata"/>
              </a:rPr>
              <a:t>Govern?</a:t>
            </a:r>
            <a:endParaRPr i="0" sz="1600" u="none" cap="none" strike="noStrike">
              <a:solidFill>
                <a:schemeClr val="dk1"/>
              </a:solidFill>
              <a:latin typeface="Inconsolata"/>
              <a:ea typeface="Inconsolata"/>
              <a:cs typeface="Inconsolata"/>
              <a:sym typeface="Inconsolata"/>
            </a:endParaRPr>
          </a:p>
        </p:txBody>
      </p:sp>
      <p:sp>
        <p:nvSpPr>
          <p:cNvPr id="432" name="Google Shape;432;p25"/>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Multi-sig or DAO?</a:t>
            </a:r>
            <a:endParaRPr b="0" i="0" sz="1100" u="none" cap="none" strike="noStrike">
              <a:solidFill>
                <a:schemeClr val="dk1"/>
              </a:solidFill>
              <a:latin typeface="Calibri"/>
              <a:ea typeface="Calibri"/>
              <a:cs typeface="Calibri"/>
              <a:sym typeface="Calibri"/>
            </a:endParaRPr>
          </a:p>
        </p:txBody>
      </p:sp>
      <p:pic>
        <p:nvPicPr>
          <p:cNvPr id="433" name="Google Shape;433;p25" title="install-line (1).png"/>
          <p:cNvPicPr preferRelativeResize="0"/>
          <p:nvPr/>
        </p:nvPicPr>
        <p:blipFill>
          <a:blip r:embed="rId9">
            <a:alphaModFix/>
          </a:blip>
          <a:stretch>
            <a:fillRect/>
          </a:stretch>
        </p:blipFill>
        <p:spPr>
          <a:xfrm>
            <a:off x="6466213" y="1464788"/>
            <a:ext cx="292600" cy="292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