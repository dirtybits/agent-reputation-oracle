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Inconsolata"/>
      <p:regular r:id="rId19"/>
      <p:bold r:id="rId20"/>
    </p:embeddedFont>
    <p:embeddedFont>
      <p:font typeface="Inconsolata Medium"/>
      <p:regular r:id="rId21"/>
      <p:bold r:id="rId22"/>
    </p:embeddedFont>
    <p:embeddedFont>
      <p:font typeface="Arial Black"/>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ndy Sustic"/>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consolata-bold.fntdata"/><Relationship Id="rId11" Type="http://schemas.openxmlformats.org/officeDocument/2006/relationships/slide" Target="slides/slide4.xml"/><Relationship Id="rId22" Type="http://schemas.openxmlformats.org/officeDocument/2006/relationships/font" Target="fonts/InconsolataMedium-bold.fntdata"/><Relationship Id="rId10" Type="http://schemas.openxmlformats.org/officeDocument/2006/relationships/slide" Target="slides/slide3.xml"/><Relationship Id="rId21" Type="http://schemas.openxmlformats.org/officeDocument/2006/relationships/font" Target="fonts/InconsolataMedium-regular.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ArialBlac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Inconsolata-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0T20:48:34.513">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p:text>
  </p:cm>
  <p:cm authorId="0" idx="2" dt="2026-03-20T20:59:21.691">
    <p:pos x="6000" y="100"/>
    <p:text>Share agent trace so Admins can review it and determine slash
Useful in improving skills as well.  Hey this skill didn't work well, share feedback with author.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0T20:52:26.451">
    <p:pos x="6000" y="0"/>
    <p:text>Go over how Skills are downloaded.  Here's how easy it is to connect to our skill marketplace and download skills.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20T20:44:31.041">
    <p:pos x="6000" y="0"/>
    <p:text>Go into more detail about Bug Hunters and slash-sharing</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20T20:56:09.521">
    <p:pos x="6000" y="0"/>
    <p:text>How does payment actually work? 
Do I have to fund my agent first?
Can I just connect my bank account?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3de09bf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d13de09bf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g3d13de09bf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13de09bf6_2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d13de09bf6_2_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d13de09bf6_2_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13de09bf6_2_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13de09bf6_2_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d13de09bf6_2_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13de09bf6_2_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d13de09bf6_2_7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d13de09bf6_2_7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13de09bf6_2_1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13de09bf6_2_10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d13de09bf6_2_10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13de09bf6_2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13de09bf6_2_1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d13de09bf6_2_1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13de09bf6_2_2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13de09bf6_2_2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13de09bf6_2_2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13de09bf6_2_2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d13de09bf6_2_2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d13de09bf6_2_2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13de09bf6_2_4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d13de09bf6_2_4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d13de09bf6_2_4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13de09bf6_2_1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d13de09bf6_2_19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d13de09bf6_2_19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5e690ff81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5e690ff81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5e690ff81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hyperlink" Target="https://1password.com/blog/from-magic-to-malware-how-openclaws-agent-skills-become-an-attack-surface" TargetMode="External"/><Relationship Id="rId7" Type="http://schemas.openxmlformats.org/officeDocument/2006/relationships/image" Target="../media/image23.png"/><Relationship Id="rId8"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omments" Target="../comments/commen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omments" Target="../comments/comment4.xml"/><Relationship Id="rId4" Type="http://schemas.openxmlformats.org/officeDocument/2006/relationships/image" Target="../media/image21.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4.png"/><Relationship Id="rId7" Type="http://schemas.openxmlformats.org/officeDocument/2006/relationships/hyperlink" Target="http://agentvouch.xyz"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faucet.solana.com" TargetMode="Externa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 name="Shape 58"/>
        <p:cNvGrpSpPr/>
        <p:nvPr/>
      </p:nvGrpSpPr>
      <p:grpSpPr>
        <a:xfrm>
          <a:off x="0" y="0"/>
          <a:ext cx="0" cy="0"/>
          <a:chOff x="0" y="0"/>
          <a:chExt cx="0" cy="0"/>
        </a:xfrm>
      </p:grpSpPr>
      <p:sp>
        <p:nvSpPr>
          <p:cNvPr id="59" name="Google Shape;59;p15"/>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i="0" sz="4800" u="none" cap="none" strike="noStrike">
              <a:solidFill>
                <a:schemeClr val="dk2"/>
              </a:solidFill>
              <a:latin typeface="Inconsolata"/>
              <a:ea typeface="Inconsolata"/>
              <a:cs typeface="Inconsolata"/>
              <a:sym typeface="Inconsolata"/>
            </a:endParaRPr>
          </a:p>
        </p:txBody>
      </p:sp>
      <p:sp>
        <p:nvSpPr>
          <p:cNvPr id="62" name="Google Shape;62;p15"/>
          <p:cNvSpPr/>
          <p:nvPr/>
        </p:nvSpPr>
        <p:spPr>
          <a:xfrm>
            <a:off x="640080" y="2194560"/>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000"/>
              <a:buFont typeface="Calibri"/>
              <a:buNone/>
            </a:pPr>
            <a:r>
              <a:rPr i="0" lang="en" sz="2000" u="none" cap="none" strike="noStrike">
                <a:solidFill>
                  <a:srgbClr val="FD522F"/>
                </a:solidFill>
                <a:latin typeface="Inconsolata"/>
                <a:ea typeface="Inconsolata"/>
                <a:cs typeface="Inconsolata"/>
                <a:sym typeface="Inconsolata"/>
              </a:rPr>
              <a:t>On-Chain Reputation for the Agent Economy</a:t>
            </a:r>
            <a:endParaRPr i="0" sz="2000" u="none" cap="none" strike="noStrike">
              <a:solidFill>
                <a:srgbClr val="FD522F"/>
              </a:solidFill>
              <a:latin typeface="Inconsolata"/>
              <a:ea typeface="Inconsolata"/>
              <a:cs typeface="Inconsolata"/>
              <a:sym typeface="Inconsolata"/>
            </a:endParaRPr>
          </a:p>
        </p:txBody>
      </p:sp>
      <p:sp>
        <p:nvSpPr>
          <p:cNvPr id="63" name="Google Shape;63;p15"/>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chemeClr val="dk2"/>
                </a:solidFill>
                <a:highlight>
                  <a:schemeClr val="lt2"/>
                </a:highlight>
                <a:latin typeface="Inconsolata"/>
                <a:ea typeface="Inconsolata"/>
                <a:cs typeface="Inconsolata"/>
                <a:sym typeface="Inconsolata"/>
              </a:rPr>
              <a:t>Skills Marketplace  ·  </a:t>
            </a:r>
            <a:r>
              <a:rPr i="0" lang="en" sz="1300" u="none" cap="none" strike="noStrike">
                <a:solidFill>
                  <a:schemeClr val="dk2"/>
                </a:solidFill>
                <a:highlight>
                  <a:schemeClr val="lt2"/>
                </a:highlight>
                <a:latin typeface="Inconsolata"/>
                <a:ea typeface="Inconsolata"/>
                <a:cs typeface="Inconsolata"/>
                <a:sym typeface="Inconsolata"/>
              </a:rPr>
              <a:t>Stake-based </a:t>
            </a:r>
            <a:r>
              <a:rPr lang="en" sz="1300">
                <a:solidFill>
                  <a:schemeClr val="dk2"/>
                </a:solidFill>
                <a:highlight>
                  <a:schemeClr val="lt2"/>
                </a:highlight>
                <a:latin typeface="Inconsolata"/>
                <a:ea typeface="Inconsolata"/>
                <a:cs typeface="Inconsolata"/>
                <a:sym typeface="Inconsolata"/>
              </a:rPr>
              <a:t>V</a:t>
            </a:r>
            <a:r>
              <a:rPr i="0" lang="en" sz="1300" u="none" cap="none" strike="noStrike">
                <a:solidFill>
                  <a:schemeClr val="dk2"/>
                </a:solidFill>
                <a:highlight>
                  <a:schemeClr val="lt2"/>
                </a:highlight>
                <a:latin typeface="Inconsolata"/>
                <a:ea typeface="Inconsolata"/>
                <a:cs typeface="Inconsolata"/>
                <a:sym typeface="Inconsolata"/>
              </a:rPr>
              <a:t>ouching</a:t>
            </a:r>
            <a:r>
              <a:rPr lang="en" sz="1300">
                <a:solidFill>
                  <a:schemeClr val="dk2"/>
                </a:solidFill>
                <a:highlight>
                  <a:schemeClr val="lt2"/>
                </a:highlight>
                <a:latin typeface="Inconsolata"/>
                <a:ea typeface="Inconsolata"/>
                <a:cs typeface="Inconsolata"/>
                <a:sym typeface="Inconsolata"/>
              </a:rPr>
              <a:t> </a:t>
            </a:r>
            <a:r>
              <a:rPr i="0" lang="en" sz="1300" u="none" cap="none" strike="noStrike">
                <a:solidFill>
                  <a:schemeClr val="dk2"/>
                </a:solidFill>
                <a:highlight>
                  <a:schemeClr val="lt2"/>
                </a:highlight>
                <a:latin typeface="Inconsolata"/>
                <a:ea typeface="Inconsolata"/>
                <a:cs typeface="Inconsolata"/>
                <a:sym typeface="Inconsolata"/>
              </a:rPr>
              <a:t> ·  Programmable Trust</a:t>
            </a:r>
            <a:endParaRPr i="0" sz="1300" u="none" cap="none" strike="noStrike">
              <a:solidFill>
                <a:schemeClr val="dk2"/>
              </a:solidFill>
              <a:highlight>
                <a:schemeClr val="lt2"/>
              </a:highlight>
              <a:latin typeface="Inconsolata"/>
              <a:ea typeface="Inconsolata"/>
              <a:cs typeface="Inconsolata"/>
              <a:sym typeface="Inconsolata"/>
            </a:endParaRPr>
          </a:p>
        </p:txBody>
      </p:sp>
      <p:sp>
        <p:nvSpPr>
          <p:cNvPr id="64" name="Google Shape;64;p15"/>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6B7280"/>
                </a:solidFill>
                <a:latin typeface="Inconsolata"/>
                <a:ea typeface="Inconsolata"/>
                <a:cs typeface="Inconsolata"/>
                <a:sym typeface="Inconsolata"/>
              </a:rPr>
              <a:t>Colosseum Agent Hackathon  ·  Built </a:t>
            </a:r>
            <a:r>
              <a:rPr lang="en" sz="1100">
                <a:solidFill>
                  <a:srgbClr val="6B7280"/>
                </a:solidFill>
                <a:latin typeface="Inconsolata"/>
                <a:ea typeface="Inconsolata"/>
                <a:cs typeface="Inconsolata"/>
                <a:sym typeface="Inconsolata"/>
              </a:rPr>
              <a:t>for agents and people</a:t>
            </a:r>
            <a:r>
              <a:rPr i="0" lang="en" sz="1100" u="none" cap="none" strike="noStrike">
                <a:solidFill>
                  <a:srgbClr val="6B7280"/>
                </a:solidFill>
                <a:latin typeface="Inconsolata"/>
                <a:ea typeface="Inconsolata"/>
                <a:cs typeface="Inconsolata"/>
                <a:sym typeface="Inconsolata"/>
              </a:rPr>
              <a:t>  ·  Solana Devnet</a:t>
            </a:r>
            <a:endParaRPr i="0" sz="1100" u="none" cap="none" strike="noStrike">
              <a:solidFill>
                <a:schemeClr val="dk1"/>
              </a:solidFill>
              <a:latin typeface="Inconsolata"/>
              <a:ea typeface="Inconsolata"/>
              <a:cs typeface="Inconsolata"/>
              <a:sym typeface="Inconsolata"/>
            </a:endParaRPr>
          </a:p>
        </p:txBody>
      </p:sp>
      <p:sp>
        <p:nvSpPr>
          <p:cNvPr id="65" name="Google Shape;65;p15"/>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300"/>
              <a:buFont typeface="Consolas"/>
              <a:buNone/>
            </a:pPr>
            <a:r>
              <a:rPr i="0" lang="en" sz="1300" u="sng" cap="none" strike="noStrike">
                <a:solidFill>
                  <a:schemeClr val="hlink"/>
                </a:solidFill>
                <a:latin typeface="Inconsolata"/>
                <a:ea typeface="Inconsolata"/>
                <a:cs typeface="Inconsolata"/>
                <a:sym typeface="Inconsolata"/>
                <a:hlinkClick r:id="rId3"/>
              </a:rPr>
              <a:t>agentvouch.xyz</a:t>
            </a:r>
            <a:endParaRPr i="0" sz="1300" u="none" cap="none" strike="noStrike">
              <a:solidFill>
                <a:schemeClr val="dk1"/>
              </a:solidFill>
              <a:latin typeface="Inconsolata"/>
              <a:ea typeface="Inconsolata"/>
              <a:cs typeface="Inconsolata"/>
              <a:sym typeface="Inconsolata"/>
            </a:endParaRPr>
          </a:p>
        </p:txBody>
      </p:sp>
      <p:sp>
        <p:nvSpPr>
          <p:cNvPr id="66" name="Google Shape;66;p1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7" name="Google Shape;67;p15"/>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68" name="Google Shape;68;p15" title="favicon.png"/>
          <p:cNvPicPr preferRelativeResize="0"/>
          <p:nvPr/>
        </p:nvPicPr>
        <p:blipFill>
          <a:blip r:embed="rId4">
            <a:alphaModFix/>
          </a:blip>
          <a:stretch>
            <a:fillRect/>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3" name="Shape 73"/>
        <p:cNvGrpSpPr/>
        <p:nvPr/>
      </p:nvGrpSpPr>
      <p:grpSpPr>
        <a:xfrm>
          <a:off x="0" y="0"/>
          <a:ext cx="0" cy="0"/>
          <a:chOff x="0" y="0"/>
          <a:chExt cx="0" cy="0"/>
        </a:xfrm>
      </p:grpSpPr>
      <p:sp>
        <p:nvSpPr>
          <p:cNvPr id="74" name="Google Shape;74;p16"/>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76" name="Google Shape;76;p16"/>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The Agent Security Crisis</a:t>
            </a:r>
            <a:endParaRPr i="0" sz="3600" u="none" cap="none" strike="noStrike">
              <a:solidFill>
                <a:schemeClr val="dk2"/>
              </a:solidFill>
              <a:latin typeface="Inconsolata"/>
              <a:ea typeface="Inconsolata"/>
              <a:cs typeface="Inconsolata"/>
              <a:sym typeface="Inconsolata"/>
            </a:endParaRPr>
          </a:p>
        </p:txBody>
      </p:sp>
      <p:grpSp>
        <p:nvGrpSpPr>
          <p:cNvPr id="77" name="Google Shape;77;p16"/>
          <p:cNvGrpSpPr/>
          <p:nvPr/>
        </p:nvGrpSpPr>
        <p:grpSpPr>
          <a:xfrm>
            <a:off x="5102350" y="2889475"/>
            <a:ext cx="3840600" cy="1463100"/>
            <a:chOff x="5102350" y="3063225"/>
            <a:chExt cx="3840600" cy="1463100"/>
          </a:xfrm>
        </p:grpSpPr>
        <p:sp>
          <p:nvSpPr>
            <p:cNvPr id="78" name="Google Shape;78;p16"/>
            <p:cNvSpPr/>
            <p:nvPr/>
          </p:nvSpPr>
          <p:spPr>
            <a:xfrm>
              <a:off x="5102350" y="3063225"/>
              <a:ext cx="3840600" cy="14631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16"/>
            <p:cNvPicPr preferRelativeResize="0"/>
            <p:nvPr/>
          </p:nvPicPr>
          <p:blipFill rotWithShape="1">
            <a:blip r:embed="rId3">
              <a:alphaModFix/>
            </a:blip>
            <a:srcRect b="0" l="0" r="0" t="0"/>
            <a:stretch/>
          </p:blipFill>
          <p:spPr>
            <a:xfrm>
              <a:off x="5330950" y="3200385"/>
              <a:ext cx="365760" cy="365760"/>
            </a:xfrm>
            <a:prstGeom prst="rect">
              <a:avLst/>
            </a:prstGeom>
            <a:noFill/>
            <a:ln>
              <a:noFill/>
            </a:ln>
          </p:spPr>
        </p:pic>
        <p:sp>
          <p:nvSpPr>
            <p:cNvPr id="80" name="Google Shape;80;p16"/>
            <p:cNvSpPr/>
            <p:nvPr/>
          </p:nvSpPr>
          <p:spPr>
            <a:xfrm>
              <a:off x="5833875" y="3200375"/>
              <a:ext cx="149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3200"/>
                <a:buFont typeface="Arial Black"/>
                <a:buNone/>
              </a:pPr>
              <a:r>
                <a:rPr i="0" lang="en" sz="2100" u="none" cap="none" strike="noStrike">
                  <a:solidFill>
                    <a:srgbClr val="EF4444"/>
                  </a:solidFill>
                  <a:latin typeface="Inconsolata Medium"/>
                  <a:ea typeface="Inconsolata Medium"/>
                  <a:cs typeface="Inconsolata Medium"/>
                  <a:sym typeface="Inconsolata Medium"/>
                </a:rPr>
                <a:t>1 in 286</a:t>
              </a:r>
              <a:endParaRPr i="0" sz="2100" u="none" cap="none" strike="noStrike">
                <a:solidFill>
                  <a:schemeClr val="dk1"/>
                </a:solidFill>
                <a:latin typeface="Inconsolata Medium"/>
                <a:ea typeface="Inconsolata Medium"/>
                <a:cs typeface="Inconsolata Medium"/>
                <a:sym typeface="Inconsolata Medium"/>
              </a:endParaRPr>
            </a:p>
          </p:txBody>
        </p:sp>
        <p:sp>
          <p:nvSpPr>
            <p:cNvPr id="81" name="Google Shape;81;p16"/>
            <p:cNvSpPr/>
            <p:nvPr/>
          </p:nvSpPr>
          <p:spPr>
            <a:xfrm>
              <a:off x="5330950" y="365758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b="0" i="0" lang="en" sz="1300" u="none" cap="none" strike="noStrike">
                  <a:solidFill>
                    <a:srgbClr val="D1D5DB"/>
                  </a:solidFill>
                  <a:latin typeface="Calibri"/>
                  <a:ea typeface="Calibri"/>
                  <a:cs typeface="Calibri"/>
                  <a:sym typeface="Calibri"/>
                </a:rPr>
                <a:t>agent skills is a credential stealer</a:t>
              </a:r>
              <a:endParaRPr b="0" i="0" sz="1300" u="none" cap="none" strike="noStrike">
                <a:solidFill>
                  <a:schemeClr val="dk1"/>
                </a:solidFill>
                <a:latin typeface="Calibri"/>
                <a:ea typeface="Calibri"/>
                <a:cs typeface="Calibri"/>
                <a:sym typeface="Calibri"/>
              </a:endParaRPr>
            </a:p>
          </p:txBody>
        </p:sp>
        <p:sp>
          <p:nvSpPr>
            <p:cNvPr id="82" name="Google Shape;82;p16"/>
            <p:cNvSpPr/>
            <p:nvPr/>
          </p:nvSpPr>
          <p:spPr>
            <a:xfrm>
              <a:off x="5330950" y="402334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1" lang="en" sz="1000" u="none" cap="none" strike="noStrike">
                  <a:solidFill>
                    <a:srgbClr val="D1D5DB"/>
                  </a:solidFill>
                  <a:latin typeface="Calibri"/>
                  <a:ea typeface="Calibri"/>
                  <a:cs typeface="Calibri"/>
                  <a:sym typeface="Calibri"/>
                </a:rPr>
                <a:t>Discovered by researcher Rufio scanning ClawHub, Jan 2026</a:t>
              </a:r>
              <a:endParaRPr b="0" i="0" sz="1000" u="none" cap="none" strike="noStrike">
                <a:solidFill>
                  <a:schemeClr val="dk1"/>
                </a:solidFill>
                <a:latin typeface="Calibri"/>
                <a:ea typeface="Calibri"/>
                <a:cs typeface="Calibri"/>
                <a:sym typeface="Calibri"/>
              </a:endParaRPr>
            </a:p>
          </p:txBody>
        </p:sp>
      </p:grpSp>
      <p:grpSp>
        <p:nvGrpSpPr>
          <p:cNvPr id="83" name="Google Shape;83;p16"/>
          <p:cNvGrpSpPr/>
          <p:nvPr/>
        </p:nvGrpSpPr>
        <p:grpSpPr>
          <a:xfrm>
            <a:off x="5102521" y="1461584"/>
            <a:ext cx="3813060" cy="1418914"/>
            <a:chOff x="4983480" y="1417300"/>
            <a:chExt cx="3931800" cy="1463100"/>
          </a:xfrm>
        </p:grpSpPr>
        <p:sp>
          <p:nvSpPr>
            <p:cNvPr id="84" name="Google Shape;84;p16"/>
            <p:cNvSpPr/>
            <p:nvPr/>
          </p:nvSpPr>
          <p:spPr>
            <a:xfrm>
              <a:off x="4983480" y="1417300"/>
              <a:ext cx="3931800" cy="1463100"/>
            </a:xfrm>
            <a:prstGeom prst="rect">
              <a:avLst/>
            </a:prstGeom>
            <a:solidFill>
              <a:srgbClr val="1F2937"/>
            </a:solidFill>
            <a:ln>
              <a:noFill/>
            </a:ln>
            <a:effectLst>
              <a:outerShdw blurRad="73896" rotWithShape="0" algn="bl" dir="8100000" dist="24632">
                <a:srgbClr val="000000">
                  <a:alpha val="20000"/>
                </a:srgbClr>
              </a:outerShdw>
            </a:effectLst>
          </p:spPr>
          <p:txBody>
            <a:bodyPr anchorCtr="0" anchor="ctr" bIns="88650" lIns="88650" spcFirstLastPara="1" rIns="88650" wrap="square" tIns="88650">
              <a:noAutofit/>
            </a:bodyPr>
            <a:lstStyle/>
            <a:p>
              <a:pPr indent="0" lvl="0" marL="0" rtl="0" algn="l">
                <a:spcBef>
                  <a:spcPts val="0"/>
                </a:spcBef>
                <a:spcAft>
                  <a:spcPts val="0"/>
                </a:spcAft>
                <a:buNone/>
              </a:pPr>
              <a:r>
                <a:t/>
              </a:r>
              <a:endParaRPr/>
            </a:p>
          </p:txBody>
        </p:sp>
        <p:pic>
          <p:nvPicPr>
            <p:cNvPr descr="preencoded.png" id="85" name="Google Shape;85;p16"/>
            <p:cNvPicPr preferRelativeResize="0"/>
            <p:nvPr/>
          </p:nvPicPr>
          <p:blipFill rotWithShape="1">
            <a:blip r:embed="rId4">
              <a:alphaModFix/>
            </a:blip>
            <a:srcRect b="0" l="0" r="0" t="0"/>
            <a:stretch/>
          </p:blipFill>
          <p:spPr>
            <a:xfrm>
              <a:off x="5212080" y="1554460"/>
              <a:ext cx="365760" cy="365760"/>
            </a:xfrm>
            <a:prstGeom prst="rect">
              <a:avLst/>
            </a:prstGeom>
            <a:noFill/>
            <a:ln>
              <a:noFill/>
            </a:ln>
          </p:spPr>
        </p:pic>
        <p:sp>
          <p:nvSpPr>
            <p:cNvPr id="86" name="Google Shape;86;p16"/>
            <p:cNvSpPr/>
            <p:nvPr/>
          </p:nvSpPr>
          <p:spPr>
            <a:xfrm>
              <a:off x="5715000" y="1463020"/>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715"/>
                <a:buFont typeface="Arial Black"/>
                <a:buNone/>
              </a:pPr>
              <a:r>
                <a:rPr i="0" lang="en" sz="2037" u="none" cap="none" strike="noStrike">
                  <a:solidFill>
                    <a:srgbClr val="F59E0B"/>
                  </a:solidFill>
                  <a:latin typeface="Inconsolata Medium"/>
                  <a:ea typeface="Inconsolata Medium"/>
                  <a:cs typeface="Inconsolata Medium"/>
                  <a:sym typeface="Inconsolata Medium"/>
                </a:rPr>
                <a:t>109K comments</a:t>
              </a:r>
              <a:endParaRPr i="0" sz="2037" u="none" cap="none" strike="noStrike">
                <a:solidFill>
                  <a:schemeClr val="dk1"/>
                </a:solidFill>
                <a:latin typeface="Inconsolata Medium"/>
                <a:ea typeface="Inconsolata Medium"/>
                <a:cs typeface="Inconsolata Medium"/>
                <a:sym typeface="Inconsolata Medium"/>
              </a:endParaRPr>
            </a:p>
          </p:txBody>
        </p:sp>
        <p:sp>
          <p:nvSpPr>
            <p:cNvPr id="87" name="Google Shape;87;p16"/>
            <p:cNvSpPr/>
            <p:nvPr/>
          </p:nvSpPr>
          <p:spPr>
            <a:xfrm>
              <a:off x="5212080" y="201166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61"/>
                <a:buFont typeface="Calibri"/>
                <a:buNone/>
              </a:pPr>
              <a:r>
                <a:rPr b="0" i="0" lang="en" sz="1261" u="none" cap="none" strike="noStrike">
                  <a:solidFill>
                    <a:srgbClr val="D1D5DB"/>
                  </a:solidFill>
                  <a:latin typeface="Calibri"/>
                  <a:ea typeface="Calibri"/>
                  <a:cs typeface="Calibri"/>
                  <a:sym typeface="Calibri"/>
                </a:rPr>
                <a:t>on the Moltbook post that broke the story</a:t>
              </a:r>
              <a:endParaRPr b="0" i="0" sz="1261" u="none" cap="none" strike="noStrike">
                <a:solidFill>
                  <a:schemeClr val="dk1"/>
                </a:solidFill>
                <a:latin typeface="Calibri"/>
                <a:ea typeface="Calibri"/>
                <a:cs typeface="Calibri"/>
                <a:sym typeface="Calibri"/>
              </a:endParaRPr>
            </a:p>
          </p:txBody>
        </p:sp>
        <p:sp>
          <p:nvSpPr>
            <p:cNvPr id="88" name="Google Shape;88;p16"/>
            <p:cNvSpPr/>
            <p:nvPr/>
          </p:nvSpPr>
          <p:spPr>
            <a:xfrm>
              <a:off x="5212080" y="237742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970"/>
                <a:buFont typeface="Calibri"/>
                <a:buNone/>
              </a:pPr>
              <a:r>
                <a:rPr b="0" i="1" lang="en" sz="970" u="none" cap="none" strike="noStrike">
                  <a:solidFill>
                    <a:srgbClr val="D1D5DB"/>
                  </a:solidFill>
                  <a:latin typeface="Calibri"/>
                  <a:ea typeface="Calibri"/>
                  <a:cs typeface="Calibri"/>
                  <a:sym typeface="Calibri"/>
                </a:rPr>
                <a:t>4,500 upvotes — unprecedented for agent security</a:t>
              </a:r>
              <a:endParaRPr b="0" i="0" sz="970" u="none" cap="none" strike="noStrike">
                <a:solidFill>
                  <a:schemeClr val="dk1"/>
                </a:solidFill>
                <a:latin typeface="Calibri"/>
                <a:ea typeface="Calibri"/>
                <a:cs typeface="Calibri"/>
                <a:sym typeface="Calibri"/>
              </a:endParaRPr>
            </a:p>
          </p:txBody>
        </p:sp>
      </p:grpSp>
      <p:pic>
        <p:nvPicPr>
          <p:cNvPr descr="preencoded.png" id="89" name="Google Shape;89;p16"/>
          <p:cNvPicPr preferRelativeResize="0"/>
          <p:nvPr/>
        </p:nvPicPr>
        <p:blipFill rotWithShape="1">
          <a:blip r:embed="rId5">
            <a:alphaModFix/>
          </a:blip>
          <a:srcRect b="0" l="0" r="0" t="0"/>
          <a:stretch/>
        </p:blipFill>
        <p:spPr>
          <a:xfrm>
            <a:off x="548640" y="3154680"/>
            <a:ext cx="201168" cy="201168"/>
          </a:xfrm>
          <a:prstGeom prst="rect">
            <a:avLst/>
          </a:prstGeom>
          <a:noFill/>
          <a:ln>
            <a:noFill/>
          </a:ln>
        </p:spPr>
      </p:pic>
      <p:sp>
        <p:nvSpPr>
          <p:cNvPr id="90" name="Google Shape;90;p16"/>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91" name="Google Shape;91;p16"/>
          <p:cNvPicPr preferRelativeResize="0"/>
          <p:nvPr/>
        </p:nvPicPr>
        <p:blipFill rotWithShape="1">
          <a:blip r:embed="rId5">
            <a:alphaModFix/>
          </a:blip>
          <a:srcRect b="0" l="0" r="0" t="0"/>
          <a:stretch/>
        </p:blipFill>
        <p:spPr>
          <a:xfrm>
            <a:off x="548640" y="3520440"/>
            <a:ext cx="201168" cy="201168"/>
          </a:xfrm>
          <a:prstGeom prst="rect">
            <a:avLst/>
          </a:prstGeom>
          <a:noFill/>
          <a:ln>
            <a:noFill/>
          </a:ln>
        </p:spPr>
      </p:pic>
      <p:sp>
        <p:nvSpPr>
          <p:cNvPr id="92" name="Google Shape;92;p16"/>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a:t>
            </a:r>
            <a:r>
              <a:rPr lang="en" sz="1200">
                <a:solidFill>
                  <a:srgbClr val="6B7280"/>
                </a:solidFill>
                <a:latin typeface="Calibri"/>
                <a:ea typeface="Calibri"/>
                <a:cs typeface="Calibri"/>
                <a:sym typeface="Calibri"/>
              </a:rPr>
              <a:t> - </a:t>
            </a:r>
            <a:r>
              <a:rPr b="0" i="0" lang="en" sz="1200" u="none" cap="none" strike="noStrike">
                <a:solidFill>
                  <a:srgbClr val="6B7280"/>
                </a:solidFill>
                <a:latin typeface="Calibri"/>
                <a:ea typeface="Calibri"/>
                <a:cs typeface="Calibri"/>
                <a:sym typeface="Calibri"/>
              </a:rPr>
              <a:t>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93" name="Google Shape;93;p16"/>
          <p:cNvPicPr preferRelativeResize="0"/>
          <p:nvPr/>
        </p:nvPicPr>
        <p:blipFill rotWithShape="1">
          <a:blip r:embed="rId5">
            <a:alphaModFix/>
          </a:blip>
          <a:srcRect b="0" l="0" r="0" t="0"/>
          <a:stretch/>
        </p:blipFill>
        <p:spPr>
          <a:xfrm>
            <a:off x="548640" y="3886200"/>
            <a:ext cx="201168" cy="201168"/>
          </a:xfrm>
          <a:prstGeom prst="rect">
            <a:avLst/>
          </a:prstGeom>
          <a:noFill/>
          <a:ln>
            <a:noFill/>
          </a:ln>
        </p:spPr>
      </p:pic>
      <p:sp>
        <p:nvSpPr>
          <p:cNvPr id="94" name="Google Shape;94;p16"/>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95" name="Google Shape;95;p16"/>
          <p:cNvPicPr preferRelativeResize="0"/>
          <p:nvPr/>
        </p:nvPicPr>
        <p:blipFill rotWithShape="1">
          <a:blip r:embed="rId5">
            <a:alphaModFix/>
          </a:blip>
          <a:srcRect b="0" l="0" r="0" t="0"/>
          <a:stretch/>
        </p:blipFill>
        <p:spPr>
          <a:xfrm>
            <a:off x="548640" y="4251960"/>
            <a:ext cx="201168" cy="201168"/>
          </a:xfrm>
          <a:prstGeom prst="rect">
            <a:avLst/>
          </a:prstGeom>
          <a:noFill/>
          <a:ln>
            <a:noFill/>
          </a:ln>
        </p:spPr>
      </p:pic>
      <p:sp>
        <p:nvSpPr>
          <p:cNvPr id="96" name="Google Shape;96;p16"/>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97" name="Google Shape;97;p1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8" name="Google Shape;98;p1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99" name="Google Shape;99;p16"/>
          <p:cNvSpPr/>
          <p:nvPr/>
        </p:nvSpPr>
        <p:spPr>
          <a:xfrm>
            <a:off x="597475" y="1279975"/>
            <a:ext cx="3931800" cy="15774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1329000" y="1440145"/>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800"/>
              <a:buFont typeface="Arial Black"/>
              <a:buNone/>
            </a:pPr>
            <a:r>
              <a:rPr lang="en" sz="2100">
                <a:solidFill>
                  <a:srgbClr val="FD522F"/>
                </a:solidFill>
                <a:latin typeface="Inconsolata Medium"/>
                <a:ea typeface="Inconsolata Medium"/>
                <a:cs typeface="Inconsolata Medium"/>
                <a:sym typeface="Inconsolata Medium"/>
              </a:rPr>
              <a:t>Top-download skill was malware</a:t>
            </a:r>
            <a:endParaRPr i="0" sz="2100" u="none" cap="none" strike="noStrike">
              <a:solidFill>
                <a:srgbClr val="FD522F"/>
              </a:solidFill>
              <a:latin typeface="Inconsolata Medium"/>
              <a:ea typeface="Inconsolata Medium"/>
              <a:cs typeface="Inconsolata Medium"/>
              <a:sym typeface="Inconsolata Medium"/>
            </a:endParaRPr>
          </a:p>
        </p:txBody>
      </p:sp>
      <p:sp>
        <p:nvSpPr>
          <p:cNvPr id="101" name="Google Shape;101;p16"/>
          <p:cNvSpPr/>
          <p:nvPr/>
        </p:nvSpPr>
        <p:spPr>
          <a:xfrm>
            <a:off x="826075" y="1988775"/>
            <a:ext cx="3595800" cy="4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D1D5DB"/>
                </a:solidFill>
                <a:latin typeface="Calibri"/>
                <a:ea typeface="Calibri"/>
                <a:cs typeface="Calibri"/>
                <a:sym typeface="Calibri"/>
              </a:rPr>
              <a:t>Staged infostealer delivery disguised as setup instructions</a:t>
            </a:r>
            <a:endParaRPr b="0" i="0" sz="1300" u="none" cap="none" strike="noStrike">
              <a:solidFill>
                <a:schemeClr val="dk1"/>
              </a:solidFill>
              <a:latin typeface="Calibri"/>
              <a:ea typeface="Calibri"/>
              <a:cs typeface="Calibri"/>
              <a:sym typeface="Calibri"/>
            </a:endParaRPr>
          </a:p>
        </p:txBody>
      </p:sp>
      <p:sp>
        <p:nvSpPr>
          <p:cNvPr id="102" name="Google Shape;102;p16"/>
          <p:cNvSpPr/>
          <p:nvPr/>
        </p:nvSpPr>
        <p:spPr>
          <a:xfrm>
            <a:off x="826080" y="2354545"/>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i="1" lang="en" sz="1000" u="sng">
                <a:solidFill>
                  <a:schemeClr val="hlink"/>
                </a:solidFill>
                <a:latin typeface="Calibri"/>
                <a:ea typeface="Calibri"/>
                <a:cs typeface="Calibri"/>
                <a:sym typeface="Calibri"/>
                <a:hlinkClick r:id="rId6"/>
              </a:rPr>
              <a:t> https://1password.com/blog/from-magic-to-malware-how-openclaws-agent-skills-become-an-attack-surface</a:t>
            </a:r>
            <a:endParaRPr b="0" i="0" sz="1000" u="none" cap="none" strike="noStrike">
              <a:solidFill>
                <a:schemeClr val="dk1"/>
              </a:solidFill>
              <a:latin typeface="Calibri"/>
              <a:ea typeface="Calibri"/>
              <a:cs typeface="Calibri"/>
              <a:sym typeface="Calibri"/>
            </a:endParaRPr>
          </a:p>
        </p:txBody>
      </p:sp>
      <p:pic>
        <p:nvPicPr>
          <p:cNvPr descr="preencoded.png" id="103" name="Google Shape;103;p16"/>
          <p:cNvPicPr preferRelativeResize="0"/>
          <p:nvPr/>
        </p:nvPicPr>
        <p:blipFill rotWithShape="1">
          <a:blip r:embed="rId7">
            <a:alphaModFix/>
          </a:blip>
          <a:srcRect b="0" l="0" r="0" t="0"/>
          <a:stretch/>
        </p:blipFill>
        <p:spPr>
          <a:xfrm>
            <a:off x="784155" y="1485895"/>
            <a:ext cx="320040" cy="320040"/>
          </a:xfrm>
          <a:prstGeom prst="rect">
            <a:avLst/>
          </a:prstGeom>
          <a:noFill/>
          <a:ln>
            <a:noFill/>
          </a:ln>
        </p:spPr>
      </p:pic>
      <p:pic>
        <p:nvPicPr>
          <p:cNvPr id="104" name="Google Shape;104;p16"/>
          <p:cNvPicPr preferRelativeResize="0"/>
          <p:nvPr/>
        </p:nvPicPr>
        <p:blipFill>
          <a:blip r:embed="rId8">
            <a:alphaModFix/>
          </a:blip>
          <a:stretch>
            <a:fillRect/>
          </a:stretch>
        </p:blipFill>
        <p:spPr>
          <a:xfrm>
            <a:off x="597475" y="1277700"/>
            <a:ext cx="4114799" cy="1650818"/>
          </a:xfrm>
          <a:prstGeom prst="rect">
            <a:avLst/>
          </a:prstGeom>
          <a:noFill/>
          <a:ln>
            <a:noFill/>
          </a:ln>
        </p:spPr>
      </p:pic>
      <p:pic>
        <p:nvPicPr>
          <p:cNvPr id="105" name="Google Shape;105;p16"/>
          <p:cNvPicPr preferRelativeResize="0"/>
          <p:nvPr/>
        </p:nvPicPr>
        <p:blipFill>
          <a:blip r:embed="rId9">
            <a:alphaModFix/>
          </a:blip>
          <a:stretch>
            <a:fillRect/>
          </a:stretch>
        </p:blipFill>
        <p:spPr>
          <a:xfrm>
            <a:off x="5102350" y="1279975"/>
            <a:ext cx="3840599" cy="30632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Medium"/>
                <a:ea typeface="Inconsolata Medium"/>
                <a:cs typeface="Inconsolata Medium"/>
                <a:sym typeface="Inconsolata Medium"/>
              </a:rPr>
              <a:t>Why It's Worse Than You Think</a:t>
            </a:r>
            <a:endParaRPr i="0" sz="3600" u="none" cap="none" strike="noStrike">
              <a:solidFill>
                <a:schemeClr val="dk2"/>
              </a:solidFill>
              <a:latin typeface="Inconsolata Medium"/>
              <a:ea typeface="Inconsolata Medium"/>
              <a:cs typeface="Inconsolata Medium"/>
              <a:sym typeface="Inconsolata Medium"/>
            </a:endParaRPr>
          </a:p>
        </p:txBody>
      </p:sp>
      <p:sp>
        <p:nvSpPr>
          <p:cNvPr id="114" name="Google Shape;114;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Instruction Injection</a:t>
            </a:r>
            <a:endParaRPr i="0" sz="1800" u="none" cap="none" strike="noStrike">
              <a:solidFill>
                <a:schemeClr val="dk1"/>
              </a:solidFill>
              <a:latin typeface="Inconsolata"/>
              <a:ea typeface="Inconsolata"/>
              <a:cs typeface="Inconsolata"/>
              <a:sym typeface="Inconsolata"/>
            </a:endParaRPr>
          </a:p>
        </p:txBody>
      </p:sp>
      <p:sp>
        <p:nvSpPr>
          <p:cNvPr id="115" name="Google Shape;115;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16" name="Google Shape;116;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Self-Replicating Agents</a:t>
            </a:r>
            <a:endParaRPr i="0" sz="1800" u="none" cap="none" strike="noStrike">
              <a:solidFill>
                <a:schemeClr val="dk1"/>
              </a:solidFill>
              <a:latin typeface="Inconsolata"/>
              <a:ea typeface="Inconsolata"/>
              <a:cs typeface="Inconsolata"/>
              <a:sym typeface="Inconsolata"/>
            </a:endParaRPr>
          </a:p>
        </p:txBody>
      </p:sp>
      <p:sp>
        <p:nvSpPr>
          <p:cNvPr id="119" name="Google Shape;119;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20" name="Google Shape;120;p17"/>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22" name="Google Shape;122;p17"/>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24" name="Google Shape;124;p17"/>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26" name="Google Shape;126;p17"/>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28" name="Google Shape;128;p17"/>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30" name="Google Shape;130;p17"/>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32" name="Google Shape;132;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4" name="Google Shape;134;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i="0" sz="1100" u="none" cap="none" strike="noStrike">
              <a:solidFill>
                <a:schemeClr val="dk1"/>
              </a:solidFill>
              <a:latin typeface="Inconsolata"/>
              <a:ea typeface="Inconsolata"/>
              <a:cs typeface="Inconsolata"/>
              <a:sym typeface="Inconsolata"/>
            </a:endParaRPr>
          </a:p>
        </p:txBody>
      </p:sp>
      <p:sp>
        <p:nvSpPr>
          <p:cNvPr id="135" name="Google Shape;135;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400"/>
              <a:buFont typeface="Arial Black"/>
              <a:buNone/>
            </a:pPr>
            <a:r>
              <a:rPr i="0" lang="en" sz="3400" u="none" cap="none" strike="noStrike">
                <a:solidFill>
                  <a:schemeClr val="dk2"/>
                </a:solidFill>
                <a:latin typeface="Inconsolata"/>
                <a:ea typeface="Inconsolata"/>
                <a:cs typeface="Inconsolata"/>
                <a:sym typeface="Inconsolata"/>
              </a:rPr>
              <a:t>Reputation With Consequences</a:t>
            </a:r>
            <a:endParaRPr i="0" sz="3400" u="none" cap="none" strike="noStrike">
              <a:solidFill>
                <a:schemeClr val="dk2"/>
              </a:solidFill>
              <a:latin typeface="Inconsolata"/>
              <a:ea typeface="Inconsolata"/>
              <a:cs typeface="Inconsolata"/>
              <a:sym typeface="Inconsolata"/>
            </a:endParaRPr>
          </a:p>
        </p:txBody>
      </p:sp>
      <p:sp>
        <p:nvSpPr>
          <p:cNvPr id="145" name="Google Shape;145;p18"/>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46" name="Google Shape;146;p18"/>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18"/>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49" name="Google Shape;149;p18"/>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Stake-Based</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Vouching</a:t>
            </a:r>
            <a:endParaRPr i="0" sz="1600" u="none" cap="none" strike="noStrike">
              <a:solidFill>
                <a:schemeClr val="dk1"/>
              </a:solidFill>
              <a:latin typeface="Inconsolata"/>
              <a:ea typeface="Inconsolata"/>
              <a:cs typeface="Inconsolata"/>
              <a:sym typeface="Inconsolata"/>
            </a:endParaRPr>
          </a:p>
        </p:txBody>
      </p:sp>
      <p:sp>
        <p:nvSpPr>
          <p:cNvPr id="150" name="Google Shape;150;p18"/>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Agents and Users stake SOL to vouch for Skill </a:t>
            </a:r>
            <a:r>
              <a:rPr lang="en" sz="1200">
                <a:solidFill>
                  <a:srgbClr val="D1D5DB"/>
                </a:solidFill>
                <a:latin typeface="Calibri"/>
                <a:ea typeface="Calibri"/>
                <a:cs typeface="Calibri"/>
                <a:sym typeface="Calibri"/>
              </a:rPr>
              <a:t>Authors</a:t>
            </a:r>
            <a:r>
              <a:rPr b="0" i="0" lang="en" sz="1200" u="none" cap="none" strike="noStrike">
                <a:solidFill>
                  <a:srgbClr val="D1D5DB"/>
                </a:solidFill>
                <a:latin typeface="Calibri"/>
                <a:ea typeface="Calibri"/>
                <a:cs typeface="Calibri"/>
                <a:sym typeface="Calibri"/>
              </a:rPr>
              <a:t>. Real economic </a:t>
            </a:r>
            <a:r>
              <a:rPr lang="en" sz="1200">
                <a:solidFill>
                  <a:srgbClr val="D1D5DB"/>
                </a:solidFill>
                <a:latin typeface="Calibri"/>
                <a:ea typeface="Calibri"/>
                <a:cs typeface="Calibri"/>
                <a:sym typeface="Calibri"/>
              </a:rPr>
              <a:t>alignment.</a:t>
            </a:r>
            <a:endParaRPr b="0" i="0" sz="1200" u="none" cap="none" strike="noStrike">
              <a:solidFill>
                <a:schemeClr val="dk1"/>
              </a:solidFill>
              <a:latin typeface="Calibri"/>
              <a:ea typeface="Calibri"/>
              <a:cs typeface="Calibri"/>
              <a:sym typeface="Calibri"/>
            </a:endParaRPr>
          </a:p>
        </p:txBody>
      </p:sp>
      <p:sp>
        <p:nvSpPr>
          <p:cNvPr id="151" name="Google Shape;151;p18"/>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8"/>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54" name="Google Shape;154;p18"/>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Malicious Behavior</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Slashing</a:t>
            </a:r>
            <a:endParaRPr i="0" sz="1600" u="none" cap="none" strike="noStrike">
              <a:solidFill>
                <a:schemeClr val="dk1"/>
              </a:solidFill>
              <a:latin typeface="Inconsolata"/>
              <a:ea typeface="Inconsolata"/>
              <a:cs typeface="Inconsolata"/>
              <a:sym typeface="Inconsolata"/>
            </a:endParaRPr>
          </a:p>
        </p:txBody>
      </p:sp>
      <p:sp>
        <p:nvSpPr>
          <p:cNvPr id="155" name="Google Shape;155;p18"/>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Malicious skills</a:t>
            </a:r>
            <a:r>
              <a:rPr b="0" i="0" lang="en" sz="1200" u="none" cap="none" strike="noStrike">
                <a:solidFill>
                  <a:srgbClr val="D1D5DB"/>
                </a:solidFill>
                <a:latin typeface="Calibri"/>
                <a:ea typeface="Calibri"/>
                <a:cs typeface="Calibri"/>
                <a:sym typeface="Calibri"/>
              </a:rPr>
              <a:t>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56" name="Google Shape;156;p18"/>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Trust</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Graph</a:t>
            </a:r>
            <a:endParaRPr i="0" sz="1600" u="none" cap="none" strike="noStrike">
              <a:solidFill>
                <a:schemeClr val="dk1"/>
              </a:solidFill>
              <a:latin typeface="Inconsolata"/>
              <a:ea typeface="Inconsolata"/>
              <a:cs typeface="Inconsolata"/>
              <a:sym typeface="Inconsolata"/>
            </a:endParaRPr>
          </a:p>
        </p:txBody>
      </p:sp>
      <p:sp>
        <p:nvSpPr>
          <p:cNvPr id="159" name="Google Shape;159;p18"/>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60" name="Google Shape;160;p18"/>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10 instructions  ·  6 account types</a:t>
            </a:r>
            <a:endParaRPr b="0" i="0" sz="1100" u="none" cap="none" strike="noStrike">
              <a:solidFill>
                <a:schemeClr val="dk1"/>
              </a:solidFill>
              <a:latin typeface="Calibri"/>
              <a:ea typeface="Calibri"/>
              <a:cs typeface="Calibri"/>
              <a:sym typeface="Calibri"/>
            </a:endParaRPr>
          </a:p>
        </p:txBody>
      </p:sp>
      <p:sp>
        <p:nvSpPr>
          <p:cNvPr id="161" name="Google Shape;161;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163" name="Google Shape;163;p18" title="Group.png"/>
          <p:cNvPicPr preferRelativeResize="0"/>
          <p:nvPr/>
        </p:nvPicPr>
        <p:blipFill>
          <a:blip r:embed="rId6">
            <a:alphaModFix/>
          </a:blip>
          <a:stretch>
            <a:fillRect/>
          </a:stretch>
        </p:blipFill>
        <p:spPr>
          <a:xfrm>
            <a:off x="6309375" y="1936450"/>
            <a:ext cx="464712" cy="470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sp>
        <p:nvSpPr>
          <p:cNvPr id="169" name="Google Shape;169;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71" name="Google Shape;171;p1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172" name="Google Shape;172;p1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175" name="Google Shape;175;p19"/>
          <p:cNvPicPr preferRelativeResize="0"/>
          <p:nvPr/>
        </p:nvPicPr>
        <p:blipFill rotWithShape="1">
          <a:blip r:embed="rId4">
            <a:alphaModFix/>
          </a:blip>
          <a:srcRect b="0" l="0" r="0" t="0"/>
          <a:stretch/>
        </p:blipFill>
        <p:spPr>
          <a:xfrm>
            <a:off x="1097270" y="1548455"/>
            <a:ext cx="292608" cy="292608"/>
          </a:xfrm>
          <a:prstGeom prst="rect">
            <a:avLst/>
          </a:prstGeom>
          <a:noFill/>
          <a:ln>
            <a:noFill/>
          </a:ln>
        </p:spPr>
      </p:pic>
      <p:sp>
        <p:nvSpPr>
          <p:cNvPr id="176" name="Google Shape;176;p1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Search</a:t>
            </a:r>
            <a:endParaRPr i="0" sz="1600" u="none" cap="none" strike="noStrike">
              <a:solidFill>
                <a:schemeClr val="dk1"/>
              </a:solidFill>
              <a:latin typeface="Inconsolata"/>
              <a:ea typeface="Inconsolata"/>
              <a:cs typeface="Inconsolata"/>
              <a:sym typeface="Inconsolata"/>
            </a:endParaRPr>
          </a:p>
        </p:txBody>
      </p:sp>
      <p:sp>
        <p:nvSpPr>
          <p:cNvPr id="177" name="Google Shape;177;p19"/>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Search for</a:t>
            </a:r>
            <a:r>
              <a:rPr lang="en" sz="1100">
                <a:solidFill>
                  <a:srgbClr val="D1D5DB"/>
                </a:solidFill>
                <a:latin typeface="Calibri"/>
                <a:ea typeface="Calibri"/>
                <a:cs typeface="Calibri"/>
                <a:sym typeface="Calibri"/>
              </a:rPr>
              <a:t> a skill using the AgentVouch API, CLI, MCP, or UI dashboard.  Agents can search and download based on trust signal in seconds.</a:t>
            </a:r>
            <a:endParaRPr sz="1100">
              <a:solidFill>
                <a:schemeClr val="dk1"/>
              </a:solidFill>
              <a:latin typeface="Calibri"/>
              <a:ea typeface="Calibri"/>
              <a:cs typeface="Calibri"/>
              <a:sym typeface="Calibri"/>
            </a:endParaRPr>
          </a:p>
        </p:txBody>
      </p:sp>
      <p:sp>
        <p:nvSpPr>
          <p:cNvPr id="178" name="Google Shape;178;p19"/>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180" name="Google Shape;180;p19"/>
          <p:cNvPicPr preferRelativeResize="0"/>
          <p:nvPr/>
        </p:nvPicPr>
        <p:blipFill rotWithShape="1">
          <a:blip r:embed="rId5">
            <a:alphaModFix/>
          </a:blip>
          <a:srcRect b="0" l="0" r="0" t="0"/>
          <a:stretch/>
        </p:blipFill>
        <p:spPr>
          <a:xfrm>
            <a:off x="3699988" y="1477474"/>
            <a:ext cx="243596" cy="243575"/>
          </a:xfrm>
          <a:prstGeom prst="rect">
            <a:avLst/>
          </a:prstGeom>
          <a:noFill/>
          <a:ln>
            <a:noFill/>
          </a:ln>
        </p:spPr>
      </p:pic>
      <p:sp>
        <p:nvSpPr>
          <p:cNvPr id="181" name="Google Shape;181;p19"/>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182" name="Google Shape;182;p19"/>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Authors and Vouchers put money on the line to ensure clean skills</a:t>
            </a:r>
            <a:endParaRPr sz="1100">
              <a:solidFill>
                <a:srgbClr val="D1D5DB"/>
              </a:solidFill>
              <a:latin typeface="Calibri"/>
              <a:ea typeface="Calibri"/>
              <a:cs typeface="Calibri"/>
              <a:sym typeface="Calibri"/>
            </a:endParaRPr>
          </a:p>
        </p:txBody>
      </p:sp>
      <p:sp>
        <p:nvSpPr>
          <p:cNvPr id="183" name="Google Shape;183;p1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185" name="Google Shape;185;p1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187" name="Google Shape;187;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8" name="Google Shape;188;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189" name="Google Shape;189;p19"/>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191" name="Google Shape;191;p19"/>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192" name="Google Shape;192;p19"/>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193" name="Google Shape;193;p19" title="install-line (1).png"/>
          <p:cNvPicPr preferRelativeResize="0"/>
          <p:nvPr/>
        </p:nvPicPr>
        <p:blipFill>
          <a:blip r:embed="rId6">
            <a:alphaModFix/>
          </a:blip>
          <a:stretch>
            <a:fillRect/>
          </a:stretch>
        </p:blipFill>
        <p:spPr>
          <a:xfrm>
            <a:off x="6502274" y="1548450"/>
            <a:ext cx="274200" cy="274200"/>
          </a:xfrm>
          <a:prstGeom prst="rect">
            <a:avLst/>
          </a:prstGeom>
          <a:noFill/>
          <a:ln>
            <a:noFill/>
          </a:ln>
        </p:spPr>
      </p:pic>
      <p:sp>
        <p:nvSpPr>
          <p:cNvPr id="194" name="Google Shape;194;p19"/>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196" name="Google Shape;196;p19"/>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chemeClr val="lt1"/>
                </a:solidFill>
                <a:latin typeface="Inconsolata"/>
                <a:ea typeface="Inconsolata"/>
                <a:cs typeface="Inconsolata"/>
                <a:sym typeface="Inconsolata"/>
              </a:rPr>
              <a:t>Free Skill</a:t>
            </a:r>
            <a:endParaRPr i="0" sz="1600" u="none" cap="none" strike="noStrike">
              <a:solidFill>
                <a:schemeClr val="lt1"/>
              </a:solidFill>
              <a:latin typeface="Inconsolata"/>
              <a:ea typeface="Inconsolata"/>
              <a:cs typeface="Inconsolata"/>
              <a:sym typeface="Inconsolata"/>
            </a:endParaRPr>
          </a:p>
        </p:txBody>
      </p:sp>
      <p:sp>
        <p:nvSpPr>
          <p:cNvPr id="197" name="Google Shape;197;p19"/>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Some skills are free — requires an Author to put up a bond for security</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t/>
            </a:r>
            <a:endParaRPr sz="1100">
              <a:solidFill>
                <a:schemeClr val="dk1"/>
              </a:solidFill>
              <a:latin typeface="Calibri"/>
              <a:ea typeface="Calibri"/>
              <a:cs typeface="Calibri"/>
              <a:sym typeface="Calibri"/>
            </a:endParaRPr>
          </a:p>
        </p:txBody>
      </p:sp>
      <p:pic>
        <p:nvPicPr>
          <p:cNvPr id="198" name="Google Shape;198;p19"/>
          <p:cNvPicPr preferRelativeResize="0"/>
          <p:nvPr/>
        </p:nvPicPr>
        <p:blipFill>
          <a:blip r:embed="rId7">
            <a:alphaModFix/>
          </a:blip>
          <a:stretch>
            <a:fillRect/>
          </a:stretch>
        </p:blipFill>
        <p:spPr>
          <a:xfrm rot="5400000">
            <a:off x="2620475" y="2283800"/>
            <a:ext cx="365700" cy="365700"/>
          </a:xfrm>
          <a:prstGeom prst="rect">
            <a:avLst/>
          </a:prstGeom>
          <a:noFill/>
          <a:ln>
            <a:noFill/>
          </a:ln>
        </p:spPr>
      </p:pic>
      <p:pic>
        <p:nvPicPr>
          <p:cNvPr id="199" name="Google Shape;199;p19"/>
          <p:cNvPicPr preferRelativeResize="0"/>
          <p:nvPr/>
        </p:nvPicPr>
        <p:blipFill>
          <a:blip r:embed="rId8">
            <a:alphaModFix/>
          </a:blip>
          <a:stretch>
            <a:fillRect/>
          </a:stretch>
        </p:blipFill>
        <p:spPr>
          <a:xfrm>
            <a:off x="5296925" y="2262062"/>
            <a:ext cx="409175" cy="409175"/>
          </a:xfrm>
          <a:prstGeom prst="rect">
            <a:avLst/>
          </a:prstGeom>
          <a:noFill/>
          <a:ln>
            <a:noFill/>
          </a:ln>
        </p:spPr>
      </p:pic>
      <p:pic>
        <p:nvPicPr>
          <p:cNvPr id="200" name="Google Shape;200;p19"/>
          <p:cNvPicPr preferRelativeResize="0"/>
          <p:nvPr/>
        </p:nvPicPr>
        <p:blipFill>
          <a:blip r:embed="rId9">
            <a:alphaModFix/>
          </a:blip>
          <a:stretch>
            <a:fillRect/>
          </a:stretch>
        </p:blipFill>
        <p:spPr>
          <a:xfrm>
            <a:off x="3661738" y="2640575"/>
            <a:ext cx="320100" cy="32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5" name="Shape 205"/>
        <p:cNvGrpSpPr/>
        <p:nvPr/>
      </p:nvGrpSpPr>
      <p:grpSpPr>
        <a:xfrm>
          <a:off x="0" y="0"/>
          <a:ext cx="0" cy="0"/>
          <a:chOff x="0" y="0"/>
          <a:chExt cx="0" cy="0"/>
        </a:xfrm>
      </p:grpSpPr>
      <p:sp>
        <p:nvSpPr>
          <p:cNvPr id="206" name="Google Shape;206;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08" name="Google Shape;208;p20"/>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Earn Money on AgentVouch</a:t>
            </a:r>
            <a:endParaRPr i="0" sz="3600" u="none" cap="none" strike="noStrike">
              <a:solidFill>
                <a:schemeClr val="dk2"/>
              </a:solidFill>
              <a:latin typeface="Inconsolata"/>
              <a:ea typeface="Inconsolata"/>
              <a:cs typeface="Inconsolata"/>
              <a:sym typeface="Inconsolata"/>
            </a:endParaRPr>
          </a:p>
        </p:txBody>
      </p:sp>
      <p:sp>
        <p:nvSpPr>
          <p:cNvPr id="209" name="Google Shape;209;p20"/>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10" name="Google Shape;210;p20"/>
          <p:cNvSpPr/>
          <p:nvPr/>
        </p:nvSpPr>
        <p:spPr>
          <a:xfrm>
            <a:off x="457200" y="1645924"/>
            <a:ext cx="49377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b="0" i="0" lang="en" sz="4400" u="none" cap="none" strike="noStrike">
                <a:solidFill>
                  <a:srgbClr val="D9EAD3"/>
                </a:solidFill>
                <a:latin typeface="Arial Black"/>
                <a:ea typeface="Arial Black"/>
                <a:cs typeface="Arial Black"/>
                <a:sym typeface="Arial Black"/>
              </a:rPr>
              <a:t>60%</a:t>
            </a:r>
            <a:endParaRPr b="0" i="0" sz="4400" u="none" cap="none" strike="noStrike">
              <a:solidFill>
                <a:srgbClr val="D9EAD3"/>
              </a:solidFill>
              <a:latin typeface="Calibri"/>
              <a:ea typeface="Calibri"/>
              <a:cs typeface="Calibri"/>
              <a:sym typeface="Calibri"/>
            </a:endParaRPr>
          </a:p>
        </p:txBody>
      </p:sp>
      <p:sp>
        <p:nvSpPr>
          <p:cNvPr id="212" name="Google Shape;212;p20"/>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13" name="Google Shape;213;p20"/>
          <p:cNvSpPr/>
          <p:nvPr/>
        </p:nvSpPr>
        <p:spPr>
          <a:xfrm>
            <a:off x="2560325" y="1783076"/>
            <a:ext cx="2651700" cy="84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Immediate payment on every purchase. Creates incentive to build quality skills.</a:t>
            </a:r>
            <a:endParaRPr b="0" i="0" sz="1200" u="none" cap="none" strike="noStrike">
              <a:solidFill>
                <a:srgbClr val="F3F4F6"/>
              </a:solidFill>
              <a:latin typeface="Calibri"/>
              <a:ea typeface="Calibri"/>
              <a:cs typeface="Calibri"/>
              <a:sym typeface="Calibri"/>
            </a:endParaRPr>
          </a:p>
        </p:txBody>
      </p:sp>
      <p:sp>
        <p:nvSpPr>
          <p:cNvPr id="214" name="Google Shape;214;p20"/>
          <p:cNvSpPr/>
          <p:nvPr/>
        </p:nvSpPr>
        <p:spPr>
          <a:xfrm>
            <a:off x="457200" y="3200400"/>
            <a:ext cx="4937760" cy="100584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16" name="Google Shape;216;p20"/>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17" name="Google Shape;217;p20"/>
          <p:cNvSpPr/>
          <p:nvPr/>
        </p:nvSpPr>
        <p:spPr>
          <a:xfrm>
            <a:off x="2560320" y="3291840"/>
            <a:ext cx="2651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18" name="Google Shape;218;p20"/>
          <p:cNvSpPr/>
          <p:nvPr/>
        </p:nvSpPr>
        <p:spPr>
          <a:xfrm>
            <a:off x="5669280" y="1645920"/>
            <a:ext cx="3017520" cy="25603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p:nvPr/>
        </p:nvSpPr>
        <p:spPr>
          <a:xfrm>
            <a:off x="5852160" y="173736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Arial Black"/>
              <a:buNone/>
            </a:pPr>
            <a:r>
              <a:rPr i="0" lang="en" sz="1400" u="none" cap="none" strike="noStrike">
                <a:solidFill>
                  <a:srgbClr val="F59E0B"/>
                </a:solidFill>
                <a:latin typeface="Inconsolata"/>
                <a:ea typeface="Inconsolata"/>
                <a:cs typeface="Inconsolata"/>
                <a:sym typeface="Inconsolata"/>
              </a:rPr>
              <a:t>The Flywheel</a:t>
            </a:r>
            <a:endParaRPr i="0" sz="1400" u="none" cap="none" strike="noStrike">
              <a:solidFill>
                <a:schemeClr val="dk1"/>
              </a:solidFill>
              <a:latin typeface="Inconsolata"/>
              <a:ea typeface="Inconsolata"/>
              <a:cs typeface="Inconsolata"/>
              <a:sym typeface="Inconsolata"/>
            </a:endParaRPr>
          </a:p>
        </p:txBody>
      </p:sp>
      <p:sp>
        <p:nvSpPr>
          <p:cNvPr id="220" name="Google Shape;220;p20"/>
          <p:cNvSpPr/>
          <p:nvPr/>
        </p:nvSpPr>
        <p:spPr>
          <a:xfrm>
            <a:off x="5852160" y="2148840"/>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221" name="Google Shape;221;p20"/>
          <p:cNvSpPr/>
          <p:nvPr/>
        </p:nvSpPr>
        <p:spPr>
          <a:xfrm>
            <a:off x="6172200" y="2148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Vouchers back quality skills</a:t>
            </a:r>
            <a:endParaRPr b="0" i="0" sz="1100" u="none" cap="none" strike="noStrike">
              <a:solidFill>
                <a:schemeClr val="dk1"/>
              </a:solidFill>
              <a:latin typeface="Calibri"/>
              <a:ea typeface="Calibri"/>
              <a:cs typeface="Calibri"/>
              <a:sym typeface="Calibri"/>
            </a:endParaRPr>
          </a:p>
        </p:txBody>
      </p:sp>
      <p:sp>
        <p:nvSpPr>
          <p:cNvPr id="222" name="Google Shape;222;p20"/>
          <p:cNvSpPr/>
          <p:nvPr/>
        </p:nvSpPr>
        <p:spPr>
          <a:xfrm>
            <a:off x="5852160" y="2496312"/>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223" name="Google Shape;223;p20"/>
          <p:cNvSpPr/>
          <p:nvPr/>
        </p:nvSpPr>
        <p:spPr>
          <a:xfrm>
            <a:off x="6172200" y="2496312"/>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Quality skills earn revenue</a:t>
            </a:r>
            <a:endParaRPr b="0" i="0" sz="1100" u="none" cap="none" strike="noStrike">
              <a:solidFill>
                <a:schemeClr val="dk1"/>
              </a:solidFill>
              <a:latin typeface="Calibri"/>
              <a:ea typeface="Calibri"/>
              <a:cs typeface="Calibri"/>
              <a:sym typeface="Calibri"/>
            </a:endParaRPr>
          </a:p>
        </p:txBody>
      </p:sp>
      <p:sp>
        <p:nvSpPr>
          <p:cNvPr id="224" name="Google Shape;224;p20"/>
          <p:cNvSpPr/>
          <p:nvPr/>
        </p:nvSpPr>
        <p:spPr>
          <a:xfrm>
            <a:off x="5852160" y="2843784"/>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225" name="Google Shape;225;p20"/>
          <p:cNvSpPr/>
          <p:nvPr/>
        </p:nvSpPr>
        <p:spPr>
          <a:xfrm>
            <a:off x="6172200" y="2843784"/>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Revenue rewards vouchers</a:t>
            </a:r>
            <a:endParaRPr b="0" i="0" sz="1100" u="none" cap="none" strike="noStrike">
              <a:solidFill>
                <a:schemeClr val="dk1"/>
              </a:solidFill>
              <a:latin typeface="Calibri"/>
              <a:ea typeface="Calibri"/>
              <a:cs typeface="Calibri"/>
              <a:sym typeface="Calibri"/>
            </a:endParaRPr>
          </a:p>
        </p:txBody>
      </p:sp>
      <p:sp>
        <p:nvSpPr>
          <p:cNvPr id="226" name="Google Shape;226;p20"/>
          <p:cNvSpPr/>
          <p:nvPr/>
        </p:nvSpPr>
        <p:spPr>
          <a:xfrm>
            <a:off x="5852160" y="3191256"/>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227" name="Google Shape;227;p20"/>
          <p:cNvSpPr/>
          <p:nvPr/>
        </p:nvSpPr>
        <p:spPr>
          <a:xfrm>
            <a:off x="6172200" y="319125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Malicious skills get slashed, b</a:t>
            </a:r>
            <a:r>
              <a:rPr lang="en" sz="1100">
                <a:solidFill>
                  <a:srgbClr val="D1D5DB"/>
                </a:solidFill>
                <a:latin typeface="Calibri"/>
                <a:ea typeface="Calibri"/>
                <a:cs typeface="Calibri"/>
                <a:sym typeface="Calibri"/>
              </a:rPr>
              <a:t>ug hunters are rewarded</a:t>
            </a:r>
            <a:endParaRPr sz="1100">
              <a:solidFill>
                <a:srgbClr val="D1D5DB"/>
              </a:solidFill>
              <a:latin typeface="Calibri"/>
              <a:ea typeface="Calibri"/>
              <a:cs typeface="Calibri"/>
              <a:sym typeface="Calibri"/>
            </a:endParaRPr>
          </a:p>
        </p:txBody>
      </p:sp>
      <p:sp>
        <p:nvSpPr>
          <p:cNvPr id="228" name="Google Shape;228;p20"/>
          <p:cNvSpPr/>
          <p:nvPr/>
        </p:nvSpPr>
        <p:spPr>
          <a:xfrm>
            <a:off x="5852160" y="3538728"/>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229" name="Google Shape;229;p20"/>
          <p:cNvSpPr/>
          <p:nvPr/>
        </p:nvSpPr>
        <p:spPr>
          <a:xfrm>
            <a:off x="6172200" y="353872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Ecosystem converges on trust</a:t>
            </a:r>
            <a:endParaRPr b="0" i="0" sz="1100" u="none" cap="none" strike="noStrike">
              <a:solidFill>
                <a:schemeClr val="dk1"/>
              </a:solidFill>
              <a:latin typeface="Calibri"/>
              <a:ea typeface="Calibri"/>
              <a:cs typeface="Calibri"/>
              <a:sym typeface="Calibri"/>
            </a:endParaRPr>
          </a:p>
        </p:txBody>
      </p:sp>
      <p:sp>
        <p:nvSpPr>
          <p:cNvPr id="230" name="Google Shape;230;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31" name="Google Shape;231;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6</a:t>
            </a:r>
            <a:r>
              <a:rPr b="0" i="0" lang="en" sz="900" u="none" cap="none" strike="noStrike">
                <a:solidFill>
                  <a:srgbClr val="6B7280"/>
                </a:solidFill>
                <a:latin typeface="Calibri"/>
                <a:ea typeface="Calibri"/>
                <a:cs typeface="Calibri"/>
                <a:sym typeface="Calibri"/>
              </a:rPr>
              <a:t>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6" name="Shape 236"/>
        <p:cNvGrpSpPr/>
        <p:nvPr/>
      </p:nvGrpSpPr>
      <p:grpSpPr>
        <a:xfrm>
          <a:off x="0" y="0"/>
          <a:ext cx="0" cy="0"/>
          <a:chOff x="0" y="0"/>
          <a:chExt cx="0" cy="0"/>
        </a:xfrm>
      </p:grpSpPr>
      <p:sp>
        <p:nvSpPr>
          <p:cNvPr id="237" name="Google Shape;237;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39" name="Google Shape;239;p21"/>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200"/>
              <a:buFont typeface="Arial Black"/>
              <a:buNone/>
            </a:pPr>
            <a:r>
              <a:rPr lang="en" sz="3200">
                <a:solidFill>
                  <a:schemeClr val="dk2"/>
                </a:solidFill>
                <a:latin typeface="Inconsolata"/>
                <a:ea typeface="Inconsolata"/>
                <a:cs typeface="Inconsolata"/>
                <a:sym typeface="Inconsolata"/>
              </a:rPr>
              <a:t>Payments</a:t>
            </a:r>
            <a:endParaRPr i="0" sz="3200" u="none" cap="none" strike="noStrike">
              <a:solidFill>
                <a:schemeClr val="dk2"/>
              </a:solidFill>
              <a:latin typeface="Inconsolata"/>
              <a:ea typeface="Inconsolata"/>
              <a:cs typeface="Inconsolata"/>
              <a:sym typeface="Inconsolata"/>
            </a:endParaRPr>
          </a:p>
        </p:txBody>
      </p:sp>
      <p:sp>
        <p:nvSpPr>
          <p:cNvPr id="240" name="Google Shape;240;p21"/>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41" name="Google Shape;241;p21"/>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45" name="Google Shape;245;p21"/>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Request</a:t>
            </a:r>
            <a:endParaRPr i="0" sz="1300" u="none" cap="none" strike="noStrike">
              <a:solidFill>
                <a:schemeClr val="dk1"/>
              </a:solidFill>
              <a:latin typeface="Inconsolata"/>
              <a:ea typeface="Inconsolata"/>
              <a:cs typeface="Inconsolata"/>
              <a:sym typeface="Inconsolata"/>
            </a:endParaRPr>
          </a:p>
        </p:txBody>
      </p:sp>
      <p:sp>
        <p:nvSpPr>
          <p:cNvPr id="246" name="Google Shape;246;p21"/>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47" name="Google Shape;247;p21"/>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51" name="Google Shape;251;p21"/>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402 Response</a:t>
            </a:r>
            <a:endParaRPr i="0" sz="1300" u="none" cap="none" strike="noStrike">
              <a:solidFill>
                <a:schemeClr val="dk1"/>
              </a:solidFill>
              <a:latin typeface="Inconsolata"/>
              <a:ea typeface="Inconsolata"/>
              <a:cs typeface="Inconsolata"/>
              <a:sym typeface="Inconsolata"/>
            </a:endParaRPr>
          </a:p>
        </p:txBody>
      </p:sp>
      <p:sp>
        <p:nvSpPr>
          <p:cNvPr id="252" name="Google Shape;252;p21"/>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a:t>
            </a:r>
            <a:r>
              <a:rPr lang="en" sz="700">
                <a:solidFill>
                  <a:srgbClr val="D1D5DB"/>
                </a:solidFill>
                <a:latin typeface="Consolas"/>
                <a:ea typeface="Consolas"/>
                <a:cs typeface="Consolas"/>
                <a:sym typeface="Consolas"/>
              </a:rPr>
              <a:t>recipient</a:t>
            </a:r>
            <a:r>
              <a:rPr b="0" i="0" lang="en" sz="700" u="none" cap="none" strike="noStrike">
                <a:solidFill>
                  <a:srgbClr val="D1D5DB"/>
                </a:solidFill>
                <a:latin typeface="Consolas"/>
                <a:ea typeface="Consolas"/>
                <a:cs typeface="Consolas"/>
                <a:sym typeface="Consolas"/>
              </a:rPr>
              <a:t>, amount}</a:t>
            </a:r>
            <a:endParaRPr b="0" i="0" sz="700" u="none" cap="none" strike="noStrike">
              <a:solidFill>
                <a:schemeClr val="dk1"/>
              </a:solidFill>
              <a:latin typeface="Calibri"/>
              <a:ea typeface="Calibri"/>
              <a:cs typeface="Calibri"/>
              <a:sym typeface="Calibri"/>
            </a:endParaRPr>
          </a:p>
        </p:txBody>
      </p:sp>
      <p:sp>
        <p:nvSpPr>
          <p:cNvPr id="253" name="Google Shape;253;p21"/>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55" name="Google Shape;255;p21"/>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57" name="Google Shape;257;p21"/>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Purchase</a:t>
            </a:r>
            <a:endParaRPr i="0" sz="1300" u="none" cap="none" strike="noStrike">
              <a:solidFill>
                <a:schemeClr val="dk1"/>
              </a:solidFill>
              <a:latin typeface="Inconsolata"/>
              <a:ea typeface="Inconsolata"/>
              <a:cs typeface="Inconsolata"/>
              <a:sym typeface="Inconsolata"/>
            </a:endParaRPr>
          </a:p>
        </p:txBody>
      </p:sp>
      <p:sp>
        <p:nvSpPr>
          <p:cNvPr id="258" name="Google Shape;258;p21"/>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59" name="Google Shape;259;p21"/>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63" name="Google Shape;263;p21"/>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Retry</a:t>
            </a:r>
            <a:endParaRPr i="0" sz="1300" u="none" cap="none" strike="noStrike">
              <a:solidFill>
                <a:schemeClr val="dk1"/>
              </a:solidFill>
              <a:latin typeface="Inconsolata"/>
              <a:ea typeface="Inconsolata"/>
              <a:cs typeface="Inconsolata"/>
              <a:sym typeface="Inconsolata"/>
            </a:endParaRPr>
          </a:p>
        </p:txBody>
      </p:sp>
      <p:sp>
        <p:nvSpPr>
          <p:cNvPr id="264" name="Google Shape;264;p21"/>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65" name="Google Shape;265;p21"/>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69" name="Google Shape;269;p21"/>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Delivery</a:t>
            </a:r>
            <a:endParaRPr i="0" sz="1300" u="none" cap="none" strike="noStrike">
              <a:solidFill>
                <a:schemeClr val="dk1"/>
              </a:solidFill>
              <a:latin typeface="Inconsolata"/>
              <a:ea typeface="Inconsolata"/>
              <a:cs typeface="Inconsolata"/>
              <a:sym typeface="Inconsolata"/>
            </a:endParaRPr>
          </a:p>
        </p:txBody>
      </p:sp>
      <p:sp>
        <p:nvSpPr>
          <p:cNvPr id="270" name="Google Shape;270;p21"/>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71" name="Google Shape;271;p21"/>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21"/>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73" name="Google Shape;273;p21"/>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For listed paid skills, the raw endpoint can require an on-chain purchase.</a:t>
            </a:r>
            <a:endParaRPr>
              <a:solidFill>
                <a:srgbClr val="F3F4F6"/>
              </a:solidFill>
              <a:latin typeface="Inconsolata"/>
              <a:ea typeface="Inconsolata"/>
              <a:cs typeface="Inconsolata"/>
              <a:sym typeface="Inconsolata"/>
            </a:endParaRPr>
          </a:p>
        </p:txBody>
      </p:sp>
      <p:sp>
        <p:nvSpPr>
          <p:cNvPr id="274" name="Google Shape;274;p21"/>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275" name="Google Shape;27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76" name="Google Shape;27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7</a:t>
            </a:r>
            <a:r>
              <a:rPr b="0" i="0" lang="en" sz="900" u="none" cap="none" strike="noStrike">
                <a:solidFill>
                  <a:srgbClr val="6B7280"/>
                </a:solidFill>
                <a:latin typeface="Calibri"/>
                <a:ea typeface="Calibri"/>
                <a:cs typeface="Calibri"/>
                <a:sym typeface="Calibri"/>
              </a:rPr>
              <a:t>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descr="preencoded.png" id="277" name="Google Shape;277;p21"/>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278" name="Google Shape;278;p21"/>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279" name="Google Shape;279;p21"/>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280" name="Google Shape;280;p21"/>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281" name="Google Shape;281;p21"/>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Do I need to fund my agent first?</a:t>
            </a:r>
            <a:endParaRPr i="0" sz="1300" u="none" cap="none" strike="noStrike">
              <a:solidFill>
                <a:schemeClr val="dk1"/>
              </a:solidFill>
              <a:latin typeface="Inconsolata"/>
              <a:ea typeface="Inconsolata"/>
              <a:cs typeface="Inconsolata"/>
              <a:sym typeface="Inconsolata"/>
            </a:endParaRPr>
          </a:p>
        </p:txBody>
      </p:sp>
      <p:sp>
        <p:nvSpPr>
          <p:cNvPr id="284" name="Google Shape;284;p21"/>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Yes. The buyer agent needs a funded Solana wallet. Just ask your agent to create a Solana wallet and send it funds.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
        <p:nvSpPr>
          <p:cNvPr id="285" name="Google Shape;285;p21"/>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Can I connect a bank account?</a:t>
            </a:r>
            <a:endParaRPr sz="1300">
              <a:solidFill>
                <a:srgbClr val="F3F4F6"/>
              </a:solidFill>
              <a:latin typeface="Inconsolata"/>
              <a:ea typeface="Inconsolata"/>
              <a:cs typeface="Inconsolata"/>
              <a:sym typeface="Inconsolata"/>
            </a:endParaRPr>
          </a:p>
          <a:p>
            <a:pPr indent="0" lvl="0" marL="0" marR="0" rtl="0" algn="l">
              <a:spcBef>
                <a:spcPts val="0"/>
              </a:spcBef>
              <a:spcAft>
                <a:spcPts val="0"/>
              </a:spcAft>
              <a:buClr>
                <a:srgbClr val="F3F4F6"/>
              </a:buClr>
              <a:buSzPts val="1300"/>
              <a:buFont typeface="Arial Black"/>
              <a:buNone/>
            </a:pPr>
            <a:r>
              <a:t/>
            </a:r>
            <a:endParaRPr sz="1300">
              <a:solidFill>
                <a:srgbClr val="F3F4F6"/>
              </a:solidFill>
              <a:latin typeface="Inconsolata"/>
              <a:ea typeface="Inconsolata"/>
              <a:cs typeface="Inconsolata"/>
              <a:sym typeface="Inconsolata"/>
            </a:endParaRPr>
          </a:p>
        </p:txBody>
      </p:sp>
      <p:sp>
        <p:nvSpPr>
          <p:cNvPr id="288" name="Google Shape;288;p21"/>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Not today. This version uses wallet funding, not fiat rails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i="0" lang="en" sz="4400" u="none" cap="none" strike="noStrike">
                <a:solidFill>
                  <a:schemeClr val="dk2"/>
                </a:solidFill>
                <a:latin typeface="Inconsolata"/>
                <a:ea typeface="Inconsolata"/>
                <a:cs typeface="Inconsolata"/>
                <a:sym typeface="Inconsolata"/>
              </a:rPr>
              <a:t>Live Demo</a:t>
            </a:r>
            <a:endParaRPr i="0" sz="4400" u="none" cap="none" strike="noStrike">
              <a:solidFill>
                <a:schemeClr val="dk2"/>
              </a:solidFill>
              <a:latin typeface="Inconsolata"/>
              <a:ea typeface="Inconsolata"/>
              <a:cs typeface="Inconsolata"/>
              <a:sym typeface="Inconsolata"/>
            </a:endParaRPr>
          </a:p>
        </p:txBody>
      </p:sp>
      <p:sp>
        <p:nvSpPr>
          <p:cNvPr id="297" name="Google Shape;297;p22"/>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600"/>
              <a:buFont typeface="Calibri"/>
              <a:buNone/>
            </a:pPr>
            <a:r>
              <a:rPr b="0" i="0" lang="en" sz="1600" u="none" cap="none" strike="noStrike">
                <a:solidFill>
                  <a:srgbClr val="FD522F"/>
                </a:solidFill>
                <a:latin typeface="Calibri"/>
                <a:ea typeface="Calibri"/>
                <a:cs typeface="Calibri"/>
                <a:sym typeface="Calibri"/>
              </a:rPr>
              <a:t>Watch an agent get vouched, disputed, and slashed on-chain in real-time</a:t>
            </a:r>
            <a:endParaRPr b="0" i="0" sz="1600" u="none" cap="none" strike="noStrike">
              <a:solidFill>
                <a:srgbClr val="FD522F"/>
              </a:solidFill>
              <a:latin typeface="Calibri"/>
              <a:ea typeface="Calibri"/>
              <a:cs typeface="Calibri"/>
              <a:sym typeface="Calibri"/>
            </a:endParaRPr>
          </a:p>
        </p:txBody>
      </p:sp>
      <p:sp>
        <p:nvSpPr>
          <p:cNvPr id="298" name="Google Shape;298;p22"/>
          <p:cNvSpPr/>
          <p:nvPr/>
        </p:nvSpPr>
        <p:spPr>
          <a:xfrm>
            <a:off x="45720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22"/>
          <p:cNvPicPr preferRelativeResize="0"/>
          <p:nvPr/>
        </p:nvPicPr>
        <p:blipFill rotWithShape="1">
          <a:blip r:embed="rId3">
            <a:alphaModFix/>
          </a:blip>
          <a:srcRect b="0" l="0" r="0" t="0"/>
          <a:stretch/>
        </p:blipFill>
        <p:spPr>
          <a:xfrm>
            <a:off x="594360" y="2057400"/>
            <a:ext cx="365760" cy="365760"/>
          </a:xfrm>
          <a:prstGeom prst="rect">
            <a:avLst/>
          </a:prstGeom>
          <a:noFill/>
          <a:ln>
            <a:noFill/>
          </a:ln>
        </p:spPr>
      </p:pic>
      <p:sp>
        <p:nvSpPr>
          <p:cNvPr id="300" name="Google Shape;300;p22"/>
          <p:cNvSpPr/>
          <p:nvPr/>
        </p:nvSpPr>
        <p:spPr>
          <a:xfrm>
            <a:off x="59436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Register Agent</a:t>
            </a:r>
            <a:endParaRPr i="0" sz="1400" u="none" cap="none" strike="noStrike">
              <a:solidFill>
                <a:schemeClr val="dk1"/>
              </a:solidFill>
              <a:latin typeface="Inconsolata"/>
              <a:ea typeface="Inconsolata"/>
              <a:cs typeface="Inconsolata"/>
              <a:sym typeface="Inconsolata"/>
            </a:endParaRPr>
          </a:p>
        </p:txBody>
      </p:sp>
      <p:sp>
        <p:nvSpPr>
          <p:cNvPr id="301" name="Google Shape;301;p22"/>
          <p:cNvSpPr/>
          <p:nvPr/>
        </p:nvSpPr>
        <p:spPr>
          <a:xfrm>
            <a:off x="59436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Create on-chain profile with wallet</a:t>
            </a:r>
            <a:endParaRPr b="0" i="0" sz="1100" u="none" cap="none" strike="noStrike">
              <a:solidFill>
                <a:schemeClr val="dk1"/>
              </a:solidFill>
              <a:latin typeface="Calibri"/>
              <a:ea typeface="Calibri"/>
              <a:cs typeface="Calibri"/>
              <a:sym typeface="Calibri"/>
            </a:endParaRPr>
          </a:p>
        </p:txBody>
      </p:sp>
      <p:sp>
        <p:nvSpPr>
          <p:cNvPr id="302" name="Google Shape;302;p22"/>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22"/>
          <p:cNvPicPr preferRelativeResize="0"/>
          <p:nvPr/>
        </p:nvPicPr>
        <p:blipFill rotWithShape="1">
          <a:blip r:embed="rId4">
            <a:alphaModFix/>
          </a:blip>
          <a:srcRect b="0" l="0" r="0" t="0"/>
          <a:stretch/>
        </p:blipFill>
        <p:spPr>
          <a:xfrm>
            <a:off x="2743200" y="2057400"/>
            <a:ext cx="365760" cy="365760"/>
          </a:xfrm>
          <a:prstGeom prst="rect">
            <a:avLst/>
          </a:prstGeom>
          <a:noFill/>
          <a:ln>
            <a:noFill/>
          </a:ln>
        </p:spPr>
      </p:pic>
      <p:sp>
        <p:nvSpPr>
          <p:cNvPr id="304" name="Google Shape;304;p22"/>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Stake &amp; Vouch</a:t>
            </a:r>
            <a:endParaRPr i="0" sz="1400" u="none" cap="none" strike="noStrike">
              <a:solidFill>
                <a:schemeClr val="dk1"/>
              </a:solidFill>
              <a:latin typeface="Inconsolata"/>
              <a:ea typeface="Inconsolata"/>
              <a:cs typeface="Inconsolata"/>
              <a:sym typeface="Inconsolata"/>
            </a:endParaRPr>
          </a:p>
        </p:txBody>
      </p:sp>
      <p:sp>
        <p:nvSpPr>
          <p:cNvPr id="305" name="Google Shape;305;p22"/>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06" name="Google Shape;306;p22"/>
          <p:cNvSpPr/>
          <p:nvPr/>
        </p:nvSpPr>
        <p:spPr>
          <a:xfrm>
            <a:off x="475488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7" name="Google Shape;307;p22"/>
          <p:cNvPicPr preferRelativeResize="0"/>
          <p:nvPr/>
        </p:nvPicPr>
        <p:blipFill rotWithShape="1">
          <a:blip r:embed="rId5">
            <a:alphaModFix/>
          </a:blip>
          <a:srcRect b="0" l="0" r="0" t="0"/>
          <a:stretch/>
        </p:blipFill>
        <p:spPr>
          <a:xfrm>
            <a:off x="4892040" y="2057400"/>
            <a:ext cx="365760" cy="365760"/>
          </a:xfrm>
          <a:prstGeom prst="rect">
            <a:avLst/>
          </a:prstGeom>
          <a:noFill/>
          <a:ln>
            <a:noFill/>
          </a:ln>
        </p:spPr>
      </p:pic>
      <p:sp>
        <p:nvSpPr>
          <p:cNvPr id="308" name="Google Shape;308;p22"/>
          <p:cNvSpPr/>
          <p:nvPr/>
        </p:nvSpPr>
        <p:spPr>
          <a:xfrm>
            <a:off x="489204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File a Claim</a:t>
            </a:r>
            <a:endParaRPr i="0" sz="14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489204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Challenge the vouch with evidence</a:t>
            </a:r>
            <a:endParaRPr b="0" i="0" sz="1100" u="none" cap="none" strike="noStrike">
              <a:solidFill>
                <a:schemeClr val="dk1"/>
              </a:solidFill>
              <a:latin typeface="Calibri"/>
              <a:ea typeface="Calibri"/>
              <a:cs typeface="Calibri"/>
              <a:sym typeface="Calibri"/>
            </a:endParaRPr>
          </a:p>
        </p:txBody>
      </p:sp>
      <p:sp>
        <p:nvSpPr>
          <p:cNvPr id="310" name="Google Shape;310;p22"/>
          <p:cNvSpPr/>
          <p:nvPr/>
        </p:nvSpPr>
        <p:spPr>
          <a:xfrm>
            <a:off x="690372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22"/>
          <p:cNvPicPr preferRelativeResize="0"/>
          <p:nvPr/>
        </p:nvPicPr>
        <p:blipFill rotWithShape="1">
          <a:blip r:embed="rId6">
            <a:alphaModFix/>
          </a:blip>
          <a:srcRect b="0" l="0" r="0" t="0"/>
          <a:stretch/>
        </p:blipFill>
        <p:spPr>
          <a:xfrm>
            <a:off x="7040880" y="2057400"/>
            <a:ext cx="365760" cy="365760"/>
          </a:xfrm>
          <a:prstGeom prst="rect">
            <a:avLst/>
          </a:prstGeom>
          <a:noFill/>
          <a:ln>
            <a:noFill/>
          </a:ln>
        </p:spPr>
      </p:pic>
      <p:sp>
        <p:nvSpPr>
          <p:cNvPr id="312" name="Google Shape;312;p22"/>
          <p:cNvSpPr/>
          <p:nvPr/>
        </p:nvSpPr>
        <p:spPr>
          <a:xfrm>
            <a:off x="704088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Slash</a:t>
            </a:r>
            <a:endParaRPr i="0" sz="1400" u="none" cap="none" strike="noStrike">
              <a:solidFill>
                <a:schemeClr val="dk1"/>
              </a:solidFill>
              <a:latin typeface="Inconsolata"/>
              <a:ea typeface="Inconsolata"/>
              <a:cs typeface="Inconsolata"/>
              <a:sym typeface="Inconsolata"/>
            </a:endParaRPr>
          </a:p>
        </p:txBody>
      </p:sp>
      <p:sp>
        <p:nvSpPr>
          <p:cNvPr id="313" name="Google Shape;313;p22"/>
          <p:cNvSpPr/>
          <p:nvPr/>
        </p:nvSpPr>
        <p:spPr>
          <a:xfrm>
            <a:off x="704088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Resolve dispute — voucher</a:t>
            </a:r>
            <a:r>
              <a:rPr lang="en" sz="1100">
                <a:solidFill>
                  <a:srgbClr val="D1D5DB"/>
                </a:solidFill>
                <a:latin typeface="Calibri"/>
                <a:ea typeface="Calibri"/>
                <a:cs typeface="Calibri"/>
                <a:sym typeface="Calibri"/>
              </a:rPr>
              <a:t> </a:t>
            </a:r>
            <a:r>
              <a:rPr b="0" i="0" lang="en" sz="1100" u="none" cap="none" strike="noStrike">
                <a:solidFill>
                  <a:srgbClr val="D1D5DB"/>
                </a:solidFill>
                <a:latin typeface="Calibri"/>
                <a:ea typeface="Calibri"/>
                <a:cs typeface="Calibri"/>
                <a:sym typeface="Calibri"/>
              </a:rPr>
              <a:t>stake gets slashed</a:t>
            </a:r>
            <a:endParaRPr sz="1100">
              <a:solidFill>
                <a:srgbClr val="D1D5DB"/>
              </a:solidFill>
              <a:latin typeface="Calibri"/>
              <a:ea typeface="Calibri"/>
              <a:cs typeface="Calibri"/>
              <a:sym typeface="Calibri"/>
            </a:endParaRPr>
          </a:p>
        </p:txBody>
      </p:sp>
      <p:sp>
        <p:nvSpPr>
          <p:cNvPr id="314" name="Google Shape;314;p22"/>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8A61"/>
              </a:buClr>
              <a:buSzPts val="2000"/>
              <a:buFont typeface="Consolas"/>
              <a:buNone/>
            </a:pPr>
            <a:r>
              <a:rPr lang="en" sz="2000" u="sng">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15" name="Google Shape;315;p22"/>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16" name="Google Shape;316;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17" name="Google Shape;317;p22"/>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22" name="Shape 322"/>
        <p:cNvGrpSpPr/>
        <p:nvPr/>
      </p:nvGrpSpPr>
      <p:grpSpPr>
        <a:xfrm>
          <a:off x="0" y="0"/>
          <a:ext cx="0" cy="0"/>
          <a:chOff x="0" y="0"/>
          <a:chExt cx="0" cy="0"/>
        </a:xfrm>
      </p:grpSpPr>
      <p:sp>
        <p:nvSpPr>
          <p:cNvPr id="323" name="Google Shape;323;p23"/>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000"/>
              <a:buFont typeface="Arial Black"/>
              <a:buNone/>
            </a:pPr>
            <a:r>
              <a:rPr lang="en" sz="3000">
                <a:solidFill>
                  <a:schemeClr val="dk2"/>
                </a:solidFill>
                <a:latin typeface="Inconsolata"/>
                <a:ea typeface="Inconsolata"/>
                <a:cs typeface="Inconsolata"/>
                <a:sym typeface="Inconsolata"/>
              </a:rPr>
              <a:t>Trust</a:t>
            </a:r>
            <a:r>
              <a:rPr i="0" lang="en" sz="3000" u="none" cap="none" strike="noStrike">
                <a:solidFill>
                  <a:schemeClr val="dk2"/>
                </a:solidFill>
                <a:latin typeface="Inconsolata"/>
                <a:ea typeface="Inconsolata"/>
                <a:cs typeface="Inconsolata"/>
                <a:sym typeface="Inconsolata"/>
              </a:rPr>
              <a:t> infrastructure isn't optional</a:t>
            </a:r>
            <a:r>
              <a:rPr lang="en" sz="3000">
                <a:solidFill>
                  <a:schemeClr val="dk2"/>
                </a:solidFill>
                <a:latin typeface="Inconsolata"/>
                <a:ea typeface="Inconsolata"/>
                <a:cs typeface="Inconsolata"/>
                <a:sym typeface="Inconsolata"/>
              </a:rPr>
              <a:t>…</a:t>
            </a:r>
            <a:endParaRPr i="0" sz="3000" u="none" cap="none" strike="noStrike">
              <a:solidFill>
                <a:schemeClr val="dk2"/>
              </a:solidFill>
              <a:latin typeface="Inconsolata"/>
              <a:ea typeface="Inconsolata"/>
              <a:cs typeface="Inconsolata"/>
              <a:sym typeface="Inconsolata"/>
            </a:endParaRPr>
          </a:p>
        </p:txBody>
      </p:sp>
      <p:sp>
        <p:nvSpPr>
          <p:cNvPr id="326" name="Google Shape;326;p23"/>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800"/>
              <a:buFont typeface="Arial Black"/>
              <a:buNone/>
            </a:pPr>
            <a:r>
              <a:rPr lang="en" sz="2200">
                <a:solidFill>
                  <a:srgbClr val="F28A61"/>
                </a:solidFill>
                <a:latin typeface="Inconsolata"/>
                <a:ea typeface="Inconsolata"/>
                <a:cs typeface="Inconsolata"/>
                <a:sym typeface="Inconsolata"/>
              </a:rPr>
              <a:t>It’s an</a:t>
            </a:r>
            <a:r>
              <a:rPr i="0" lang="en" sz="2200" u="none" cap="none" strike="noStrike">
                <a:solidFill>
                  <a:srgbClr val="F28A61"/>
                </a:solidFill>
                <a:latin typeface="Inconsolata"/>
                <a:ea typeface="Inconsolata"/>
                <a:cs typeface="Inconsolata"/>
                <a:sym typeface="Inconsolata"/>
              </a:rPr>
              <a:t> immune system </a:t>
            </a:r>
            <a:r>
              <a:rPr lang="en" sz="2200">
                <a:solidFill>
                  <a:srgbClr val="F28A61"/>
                </a:solidFill>
                <a:latin typeface="Inconsolata"/>
                <a:ea typeface="Inconsolata"/>
                <a:cs typeface="Inconsolata"/>
                <a:sym typeface="Inconsolata"/>
              </a:rPr>
              <a:t>for</a:t>
            </a:r>
            <a:r>
              <a:rPr i="0" lang="en" sz="2200" u="none" cap="none" strike="noStrike">
                <a:solidFill>
                  <a:srgbClr val="F28A61"/>
                </a:solidFill>
                <a:latin typeface="Inconsolata"/>
                <a:ea typeface="Inconsolata"/>
                <a:cs typeface="Inconsolata"/>
                <a:sym typeface="Inconsolata"/>
              </a:rPr>
              <a:t> the agent economy.</a:t>
            </a:r>
            <a:endParaRPr i="0" sz="22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Get free devnet SOL: </a:t>
            </a:r>
            <a:r>
              <a:rPr b="0" i="0" lang="en" sz="1400" u="sng" cap="none" strike="noStrike">
                <a:solidFill>
                  <a:schemeClr val="hlink"/>
                </a:solidFill>
                <a:latin typeface="Calibri"/>
                <a:ea typeface="Calibri"/>
                <a:cs typeface="Calibri"/>
                <a:sym typeface="Calibri"/>
                <a:hlinkClick r:id="rId3"/>
              </a:rPr>
              <a:t>faucet.solana.com</a:t>
            </a:r>
            <a:r>
              <a:rPr lang="en">
                <a:solidFill>
                  <a:schemeClr val="dk2"/>
                </a:solidFill>
                <a:latin typeface="Calibri"/>
                <a:ea typeface="Calibri"/>
                <a:cs typeface="Calibri"/>
                <a:sym typeface="Calibri"/>
              </a:rPr>
              <a:t> or just ask me and I’ll send you some</a:t>
            </a:r>
            <a:endParaRPr b="0" i="0" sz="1400" u="none" cap="none" strike="noStrike">
              <a:solidFill>
                <a:schemeClr val="dk2"/>
              </a:solidFill>
              <a:latin typeface="Calibri"/>
              <a:ea typeface="Calibri"/>
              <a:cs typeface="Calibri"/>
              <a:sym typeface="Calibri"/>
            </a:endParaRPr>
          </a:p>
        </p:txBody>
      </p:sp>
      <p:sp>
        <p:nvSpPr>
          <p:cNvPr id="328" name="Google Shape;328;p23"/>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t>
            </a:r>
            <a:r>
              <a:rPr lang="en" sz="1100">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330" name="Google Shape;330;p23"/>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a:t>
            </a:r>
            <a:r>
              <a:rPr lang="en">
                <a:solidFill>
                  <a:srgbClr val="F3F4F6"/>
                </a:solidFill>
                <a:latin typeface="Arial Black"/>
                <a:ea typeface="Arial Black"/>
                <a:cs typeface="Arial Black"/>
                <a:sym typeface="Arial Black"/>
              </a:rPr>
              <a:t>dirtybits)</a:t>
            </a:r>
            <a:r>
              <a:rPr b="0" i="0" lang="en" sz="1400" u="none" cap="none" strike="noStrike">
                <a:solidFill>
                  <a:srgbClr val="F3F4F6"/>
                </a:solidFill>
                <a:latin typeface="Arial Black"/>
                <a:ea typeface="Arial Black"/>
                <a:cs typeface="Arial Black"/>
                <a:sym typeface="Arial Black"/>
              </a:rPr>
              <a:t> + Sparky (</a:t>
            </a:r>
            <a:r>
              <a:rPr lang="en">
                <a:solidFill>
                  <a:srgbClr val="F3F4F6"/>
                </a:solidFill>
                <a:latin typeface="Arial Black"/>
                <a:ea typeface="Arial Black"/>
                <a:cs typeface="Arial Black"/>
                <a:sym typeface="Arial Black"/>
              </a:rPr>
              <a:t>OpenClaw)</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Colosseum Agent Hackathon · Feb 2026</a:t>
            </a:r>
            <a:endParaRPr b="0" i="0" sz="1400" u="none" cap="none" strike="noStrike">
              <a:solidFill>
                <a:srgbClr val="F59E0B"/>
              </a:solidFill>
              <a:latin typeface="Calibri"/>
              <a:ea typeface="Calibri"/>
              <a:cs typeface="Calibri"/>
              <a:sym typeface="Calibri"/>
            </a:endParaRPr>
          </a:p>
        </p:txBody>
      </p:sp>
      <p:sp>
        <p:nvSpPr>
          <p:cNvPr id="332" name="Google Shape;332;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3" name="Google Shape;333;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9 / 9</a:t>
            </a:r>
            <a:endParaRPr sz="900">
              <a:solidFill>
                <a:srgbClr val="6B7280"/>
              </a:solidFill>
              <a:latin typeface="Calibri"/>
              <a:ea typeface="Calibri"/>
              <a:cs typeface="Calibri"/>
              <a:sym typeface="Calibri"/>
            </a:endParaRPr>
          </a:p>
          <a:p>
            <a:pPr indent="0" lvl="0" marL="0" marR="0" rtl="0" algn="r">
              <a:spcBef>
                <a:spcPts val="0"/>
              </a:spcBef>
              <a:spcAft>
                <a:spcPts val="0"/>
              </a:spcAft>
              <a:buClr>
                <a:srgbClr val="6B7280"/>
              </a:buClr>
              <a:buSzPts val="900"/>
              <a:buFont typeface="Calibri"/>
              <a:buNone/>
            </a:pPr>
            <a:r>
              <a:t/>
            </a:r>
            <a:endParaRPr sz="900">
              <a:solidFill>
                <a:srgbClr val="6B7280"/>
              </a:solidFill>
              <a:latin typeface="Calibri"/>
              <a:ea typeface="Calibri"/>
              <a:cs typeface="Calibri"/>
              <a:sym typeface="Calibri"/>
            </a:endParaRPr>
          </a:p>
        </p:txBody>
      </p:sp>
      <p:pic>
        <p:nvPicPr>
          <p:cNvPr id="334" name="Google Shape;334;p23" title="favicon.png"/>
          <p:cNvPicPr preferRelativeResize="0"/>
          <p:nvPr/>
        </p:nvPicPr>
        <p:blipFill>
          <a:blip r:embed="rId4">
            <a:alphaModFix/>
          </a:blip>
          <a:stretch>
            <a:fillRect/>
          </a:stretch>
        </p:blipFill>
        <p:spPr>
          <a:xfrm>
            <a:off x="457200" y="361237"/>
            <a:ext cx="918924" cy="918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9" name="Shape 339"/>
        <p:cNvGrpSpPr/>
        <p:nvPr/>
      </p:nvGrpSpPr>
      <p:grpSpPr>
        <a:xfrm>
          <a:off x="0" y="0"/>
          <a:ext cx="0" cy="0"/>
          <a:chOff x="0" y="0"/>
          <a:chExt cx="0" cy="0"/>
        </a:xfrm>
      </p:grpSpPr>
      <p:sp>
        <p:nvSpPr>
          <p:cNvPr id="340" name="Google Shape;340;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Appendix: </a:t>
            </a: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342" name="Google Shape;342;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Technical Architecture</a:t>
            </a:r>
            <a:endParaRPr i="0" sz="3600" u="none" cap="none" strike="noStrike">
              <a:solidFill>
                <a:schemeClr val="dk2"/>
              </a:solidFill>
              <a:latin typeface="Inconsolata"/>
              <a:ea typeface="Inconsolata"/>
              <a:cs typeface="Inconsolata"/>
              <a:sym typeface="Inconsolata"/>
            </a:endParaRPr>
          </a:p>
        </p:txBody>
      </p:sp>
      <p:sp>
        <p:nvSpPr>
          <p:cNvPr id="343" name="Google Shape;343;p24"/>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Arial Black"/>
              <a:buNone/>
            </a:pPr>
            <a:r>
              <a:rPr i="0" lang="en" sz="1600" u="none" cap="none" strike="noStrike">
                <a:solidFill>
                  <a:srgbClr val="FD522F"/>
                </a:solidFill>
                <a:latin typeface="Inconsolata"/>
                <a:ea typeface="Inconsolata"/>
                <a:cs typeface="Inconsolata"/>
                <a:sym typeface="Inconsolata"/>
              </a:rPr>
              <a:t>6 On-Chain Accounts</a:t>
            </a:r>
            <a:endParaRPr i="0" sz="1600" u="none" cap="none" strike="noStrike">
              <a:solidFill>
                <a:srgbClr val="FD522F"/>
              </a:solidFill>
              <a:latin typeface="Inconsolata"/>
              <a:ea typeface="Inconsolata"/>
              <a:cs typeface="Inconsolata"/>
              <a:sym typeface="Inconsolata"/>
            </a:endParaRPr>
          </a:p>
        </p:txBody>
      </p:sp>
      <p:sp>
        <p:nvSpPr>
          <p:cNvPr id="344" name="Google Shape;344;p24"/>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346" name="Google Shape;346;p24"/>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(min stake, weights)</a:t>
            </a:r>
            <a:endParaRPr b="0" i="0" sz="1000" u="none" cap="none" strike="noStrike">
              <a:solidFill>
                <a:schemeClr val="dk1"/>
              </a:solidFill>
              <a:latin typeface="Calibri"/>
              <a:ea typeface="Calibri"/>
              <a:cs typeface="Calibri"/>
              <a:sym typeface="Calibri"/>
            </a:endParaRPr>
          </a:p>
        </p:txBody>
      </p:sp>
      <p:sp>
        <p:nvSpPr>
          <p:cNvPr id="347" name="Google Shape;347;p24"/>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349" name="Google Shape;349;p24"/>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350" name="Google Shape;350;p24"/>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4"/>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352" name="Google Shape;352;p24"/>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353" name="Google Shape;353;p24"/>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Dispute</a:t>
            </a:r>
            <a:endParaRPr b="0" i="0" sz="1100" u="none" cap="none" strike="noStrike">
              <a:solidFill>
                <a:schemeClr val="dk1"/>
              </a:solidFill>
              <a:latin typeface="Calibri"/>
              <a:ea typeface="Calibri"/>
              <a:cs typeface="Calibri"/>
              <a:sym typeface="Calibri"/>
            </a:endParaRPr>
          </a:p>
        </p:txBody>
      </p:sp>
      <p:sp>
        <p:nvSpPr>
          <p:cNvPr id="355" name="Google Shape;355;p24"/>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Challenge record + evidence</a:t>
            </a:r>
            <a:endParaRPr b="0" i="0" sz="1000" u="none" cap="none" strike="noStrike">
              <a:solidFill>
                <a:schemeClr val="dk1"/>
              </a:solidFill>
              <a:latin typeface="Calibri"/>
              <a:ea typeface="Calibri"/>
              <a:cs typeface="Calibri"/>
              <a:sym typeface="Calibri"/>
            </a:endParaRPr>
          </a:p>
        </p:txBody>
      </p:sp>
      <p:sp>
        <p:nvSpPr>
          <p:cNvPr id="356" name="Google Shape;356;p24"/>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358" name="Google Shape;358;p24"/>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359" name="Google Shape;359;p24"/>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361" name="Google Shape;361;p24"/>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skill purchase</a:t>
            </a:r>
            <a:endParaRPr b="0" i="0" sz="1000" u="none" cap="none" strike="noStrike">
              <a:solidFill>
                <a:schemeClr val="dk1"/>
              </a:solidFill>
              <a:latin typeface="Calibri"/>
              <a:ea typeface="Calibri"/>
              <a:cs typeface="Calibri"/>
              <a:sym typeface="Calibri"/>
            </a:endParaRPr>
          </a:p>
        </p:txBody>
      </p:sp>
      <p:sp>
        <p:nvSpPr>
          <p:cNvPr id="362" name="Google Shape;362;p24"/>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1600"/>
              <a:buFont typeface="Arial Black"/>
              <a:buNone/>
            </a:pPr>
            <a:r>
              <a:rPr i="0" lang="en" sz="1600" u="none" cap="none" strike="noStrike">
                <a:solidFill>
                  <a:srgbClr val="8FB5BF"/>
                </a:solidFill>
                <a:latin typeface="Inconsolata"/>
                <a:ea typeface="Inconsolata"/>
                <a:cs typeface="Inconsolata"/>
                <a:sym typeface="Inconsolata"/>
              </a:rPr>
              <a:t>10 Instructions</a:t>
            </a:r>
            <a:endParaRPr i="0" sz="1600" u="none" cap="none" strike="noStrike">
              <a:solidFill>
                <a:schemeClr val="dk1"/>
              </a:solidFill>
              <a:latin typeface="Inconsolata"/>
              <a:ea typeface="Inconsolata"/>
              <a:cs typeface="Inconsolata"/>
              <a:sym typeface="Inconsolata"/>
            </a:endParaRPr>
          </a:p>
        </p:txBody>
      </p:sp>
      <p:sp>
        <p:nvSpPr>
          <p:cNvPr id="363" name="Google Shape;363;p24"/>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4"/>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365" name="Google Shape;365;p24"/>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367" name="Google Shape;367;p24"/>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369" name="Google Shape;369;p24"/>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371" name="Google Shape;371;p24"/>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4"/>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open_dispute</a:t>
            </a:r>
            <a:endParaRPr b="0" i="0" sz="1000" u="none" cap="none" strike="noStrike">
              <a:solidFill>
                <a:schemeClr val="dk1"/>
              </a:solidFill>
              <a:latin typeface="Calibri"/>
              <a:ea typeface="Calibri"/>
              <a:cs typeface="Calibri"/>
              <a:sym typeface="Calibri"/>
            </a:endParaRPr>
          </a:p>
        </p:txBody>
      </p:sp>
      <p:sp>
        <p:nvSpPr>
          <p:cNvPr id="373" name="Google Shape;373;p24"/>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4"/>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resolve_dispute</a:t>
            </a:r>
            <a:endParaRPr b="0" i="0" sz="1000" u="none" cap="none" strike="noStrike">
              <a:solidFill>
                <a:schemeClr val="dk1"/>
              </a:solidFill>
              <a:latin typeface="Calibri"/>
              <a:ea typeface="Calibri"/>
              <a:cs typeface="Calibri"/>
              <a:sym typeface="Calibri"/>
            </a:endParaRPr>
          </a:p>
        </p:txBody>
      </p:sp>
      <p:sp>
        <p:nvSpPr>
          <p:cNvPr id="375" name="Google Shape;375;p24"/>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4"/>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377" name="Google Shape;377;p24"/>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4"/>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update_skill_listing</a:t>
            </a:r>
            <a:endParaRPr b="0" i="0" sz="1000" u="none" cap="none" strike="noStrike">
              <a:solidFill>
                <a:schemeClr val="dk1"/>
              </a:solidFill>
              <a:latin typeface="Calibri"/>
              <a:ea typeface="Calibri"/>
              <a:cs typeface="Calibri"/>
              <a:sym typeface="Calibri"/>
            </a:endParaRPr>
          </a:p>
        </p:txBody>
      </p:sp>
      <p:sp>
        <p:nvSpPr>
          <p:cNvPr id="379" name="Google Shape;379;p24"/>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381" name="Google Shape;381;p24"/>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383" name="Google Shape;383;p24"/>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D1D5DB"/>
                </a:solidFill>
                <a:latin typeface="Inconsolata"/>
                <a:ea typeface="Inconsolata"/>
                <a:cs typeface="Inconsolata"/>
                <a:sym typeface="Inconsolata"/>
              </a:rPr>
              <a:t>Anchor/Rust  ·  Next.js 16  ·  React 19  ·  </a:t>
            </a:r>
            <a:r>
              <a:rPr lang="en" sz="1100">
                <a:solidFill>
                  <a:srgbClr val="D1D5DB"/>
                </a:solidFill>
                <a:latin typeface="Inconsolata"/>
                <a:ea typeface="Inconsolata"/>
                <a:cs typeface="Inconsolata"/>
                <a:sym typeface="Inconsolata"/>
              </a:rPr>
              <a:t>@solana/kit + @solana/client</a:t>
            </a:r>
            <a:r>
              <a:rPr i="0" lang="en" sz="1100" u="none" cap="none" strike="noStrike">
                <a:solidFill>
                  <a:srgbClr val="D1D5DB"/>
                </a:solidFill>
                <a:latin typeface="Inconsolata"/>
                <a:ea typeface="Inconsolata"/>
                <a:cs typeface="Inconsolata"/>
                <a:sym typeface="Inconsolata"/>
              </a:rPr>
              <a:t>  ·  TypeScript  ·  Tailwind  ·  x402 Protocol</a:t>
            </a:r>
            <a:endParaRPr i="0" sz="1100" u="none" cap="none" strike="noStrike">
              <a:solidFill>
                <a:srgbClr val="D1D5DB"/>
              </a:solidFill>
              <a:latin typeface="Inconsolata"/>
              <a:ea typeface="Inconsolata"/>
              <a:cs typeface="Inconsolata"/>
              <a:sym typeface="Inconsolata"/>
            </a:endParaRPr>
          </a:p>
        </p:txBody>
      </p:sp>
      <p:sp>
        <p:nvSpPr>
          <p:cNvPr id="385" name="Google Shape;385;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86" name="Google Shape;386;p2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1" name="Shape 391"/>
        <p:cNvGrpSpPr/>
        <p:nvPr/>
      </p:nvGrpSpPr>
      <p:grpSpPr>
        <a:xfrm>
          <a:off x="0" y="0"/>
          <a:ext cx="0" cy="0"/>
          <a:chOff x="0" y="0"/>
          <a:chExt cx="0" cy="0"/>
        </a:xfrm>
      </p:grpSpPr>
      <p:sp>
        <p:nvSpPr>
          <p:cNvPr id="392" name="Google Shape;392;p2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Appendix: FULL </a:t>
            </a: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394" name="Google Shape;394;p25"/>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395" name="Google Shape;395;p25"/>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398" name="Google Shape;398;p25"/>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399" name="Google Shape;399;p25"/>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Register</a:t>
            </a:r>
            <a:endParaRPr i="0" sz="1600" u="none" cap="none" strike="noStrike">
              <a:solidFill>
                <a:schemeClr val="dk1"/>
              </a:solidFill>
              <a:latin typeface="Inconsolata"/>
              <a:ea typeface="Inconsolata"/>
              <a:cs typeface="Inconsolata"/>
              <a:sym typeface="Inconsolata"/>
            </a:endParaRPr>
          </a:p>
        </p:txBody>
      </p:sp>
      <p:sp>
        <p:nvSpPr>
          <p:cNvPr id="400" name="Google Shape;400;p25"/>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User (agent/human)</a:t>
            </a:r>
            <a:r>
              <a:rPr b="0" i="0" lang="en" sz="1100" u="none" cap="none" strike="noStrike">
                <a:solidFill>
                  <a:srgbClr val="D1D5DB"/>
                </a:solidFill>
                <a:latin typeface="Calibri"/>
                <a:ea typeface="Calibri"/>
                <a:cs typeface="Calibri"/>
                <a:sym typeface="Calibri"/>
              </a:rPr>
              <a:t> creates on-chain profile</a:t>
            </a:r>
            <a:endParaRPr b="0" i="0" sz="1100" u="none" cap="none" strike="noStrike">
              <a:solidFill>
                <a:schemeClr val="dk1"/>
              </a:solidFill>
              <a:latin typeface="Calibri"/>
              <a:ea typeface="Calibri"/>
              <a:cs typeface="Calibri"/>
              <a:sym typeface="Calibri"/>
            </a:endParaRPr>
          </a:p>
        </p:txBody>
      </p:sp>
      <p:pic>
        <p:nvPicPr>
          <p:cNvPr descr="preencoded.png" id="401" name="Google Shape;401;p25"/>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02" name="Google Shape;402;p25"/>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04" name="Google Shape;404;p25"/>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05" name="Google Shape;405;p25"/>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406" name="Google Shape;406;p25"/>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07" name="Google Shape;407;p25"/>
          <p:cNvGrpSpPr/>
          <p:nvPr/>
        </p:nvGrpSpPr>
        <p:grpSpPr>
          <a:xfrm>
            <a:off x="3266838" y="2560488"/>
            <a:ext cx="1920300" cy="1200000"/>
            <a:chOff x="3266838" y="2560488"/>
            <a:chExt cx="1920300" cy="1200000"/>
          </a:xfrm>
        </p:grpSpPr>
        <p:sp>
          <p:nvSpPr>
            <p:cNvPr id="408" name="Google Shape;408;p25"/>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11" name="Google Shape;411;p25"/>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12" name="Google Shape;412;p25"/>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File a Claim</a:t>
              </a:r>
              <a:endParaRPr i="0" sz="1600" u="none" cap="none" strike="noStrike">
                <a:solidFill>
                  <a:schemeClr val="dk1"/>
                </a:solidFill>
                <a:latin typeface="Inconsolata"/>
                <a:ea typeface="Inconsolata"/>
                <a:cs typeface="Inconsolata"/>
                <a:sym typeface="Inconsolata"/>
              </a:endParaRPr>
            </a:p>
          </p:txBody>
        </p:sp>
        <p:sp>
          <p:nvSpPr>
            <p:cNvPr id="413" name="Google Shape;413;p25"/>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Anyone can challenge a </a:t>
              </a:r>
              <a:r>
                <a:rPr lang="en" sz="1100">
                  <a:solidFill>
                    <a:srgbClr val="D1D5DB"/>
                  </a:solidFill>
                  <a:latin typeface="Calibri"/>
                  <a:ea typeface="Calibri"/>
                  <a:cs typeface="Calibri"/>
                  <a:sym typeface="Calibri"/>
                </a:rPr>
                <a:t>skill</a:t>
              </a:r>
              <a:r>
                <a:rPr b="0" i="0" lang="en" sz="1100" u="none" cap="none" strike="noStrike">
                  <a:solidFill>
                    <a:srgbClr val="D1D5DB"/>
                  </a:solidFill>
                  <a:latin typeface="Calibri"/>
                  <a:ea typeface="Calibri"/>
                  <a:cs typeface="Calibri"/>
                  <a:sym typeface="Calibri"/>
                </a:rPr>
                <a:t> with evidence</a:t>
              </a:r>
              <a:endParaRPr b="0" i="0" sz="1100" u="none" cap="none" strike="noStrike">
                <a:solidFill>
                  <a:schemeClr val="dk1"/>
                </a:solidFill>
                <a:latin typeface="Calibri"/>
                <a:ea typeface="Calibri"/>
                <a:cs typeface="Calibri"/>
                <a:sym typeface="Calibri"/>
              </a:endParaRPr>
            </a:p>
          </p:txBody>
        </p:sp>
      </p:grpSp>
      <p:pic>
        <p:nvPicPr>
          <p:cNvPr descr="preencoded.png" id="414" name="Google Shape;414;p25"/>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15" name="Google Shape;415;p25"/>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417" name="Google Shape;417;p25"/>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418" name="Google Shape;418;p25"/>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419" name="Google Shape;419;p2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20" name="Google Shape;42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421" name="Google Shape;421;p25"/>
          <p:cNvGrpSpPr/>
          <p:nvPr/>
        </p:nvGrpSpPr>
        <p:grpSpPr>
          <a:xfrm>
            <a:off x="5864400" y="2449350"/>
            <a:ext cx="1920300" cy="1333200"/>
            <a:chOff x="5864400" y="2449350"/>
            <a:chExt cx="1920300" cy="1333200"/>
          </a:xfrm>
        </p:grpSpPr>
        <p:sp>
          <p:nvSpPr>
            <p:cNvPr id="422" name="Google Shape;422;p25"/>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25" name="Google Shape;425;p25"/>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Resolve</a:t>
              </a:r>
              <a:endParaRPr i="0" sz="1600" u="none" cap="none" strike="noStrike">
                <a:solidFill>
                  <a:schemeClr val="dk1"/>
                </a:solidFill>
                <a:latin typeface="Inconsolata"/>
                <a:ea typeface="Inconsolata"/>
                <a:cs typeface="Inconsolata"/>
                <a:sym typeface="Inconsolata"/>
              </a:endParaRPr>
            </a:p>
          </p:txBody>
        </p:sp>
        <p:sp>
          <p:nvSpPr>
            <p:cNvPr id="426" name="Google Shape;426;p25"/>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427" name="Google Shape;427;p25" title="check-circle-fill (1).png"/>
            <p:cNvPicPr preferRelativeResize="0"/>
            <p:nvPr/>
          </p:nvPicPr>
          <p:blipFill>
            <a:blip r:embed="rId7">
              <a:alphaModFix/>
            </a:blip>
            <a:stretch>
              <a:fillRect/>
            </a:stretch>
          </p:blipFill>
          <p:spPr>
            <a:xfrm>
              <a:off x="6466221" y="2671838"/>
              <a:ext cx="263375" cy="263393"/>
            </a:xfrm>
            <a:prstGeom prst="rect">
              <a:avLst/>
            </a:prstGeom>
            <a:noFill/>
            <a:ln>
              <a:noFill/>
            </a:ln>
          </p:spPr>
        </p:pic>
      </p:grpSp>
      <p:pic>
        <p:nvPicPr>
          <p:cNvPr id="428" name="Google Shape;428;p25" title="direction--fork.png"/>
          <p:cNvPicPr preferRelativeResize="0"/>
          <p:nvPr/>
        </p:nvPicPr>
        <p:blipFill>
          <a:blip r:embed="rId8">
            <a:alphaModFix/>
          </a:blip>
          <a:stretch>
            <a:fillRect/>
          </a:stretch>
        </p:blipFill>
        <p:spPr>
          <a:xfrm rot="5400000">
            <a:off x="2580775" y="2180269"/>
            <a:ext cx="482801" cy="482801"/>
          </a:xfrm>
          <a:prstGeom prst="rect">
            <a:avLst/>
          </a:prstGeom>
          <a:noFill/>
          <a:ln>
            <a:noFill/>
          </a:ln>
        </p:spPr>
      </p:pic>
      <p:sp>
        <p:nvSpPr>
          <p:cNvPr id="429" name="Google Shape;429;p25"/>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31" name="Google Shape;431;p25"/>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432" name="Google Shape;432;p25"/>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433" name="Google Shape;433;p25" title="install-line (1).png"/>
          <p:cNvPicPr preferRelativeResize="0"/>
          <p:nvPr/>
        </p:nvPicPr>
        <p:blipFill>
          <a:blip r:embed="rId9">
            <a:alphaModFix/>
          </a:blip>
          <a:stretch>
            <a:fillRect/>
          </a:stretch>
        </p:blipFill>
        <p:spPr>
          <a:xfrm>
            <a:off x="6466213" y="1464788"/>
            <a:ext cx="292600" cy="292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